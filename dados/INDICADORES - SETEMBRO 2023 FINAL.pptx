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1" r:id="rId1"/>
  </p:sldMasterIdLst>
  <p:sldIdLst>
    <p:sldId id="258" r:id="rId2"/>
    <p:sldId id="257" r:id="rId3"/>
    <p:sldId id="260" r:id="rId4"/>
    <p:sldId id="264" r:id="rId5"/>
    <p:sldId id="265" r:id="rId6"/>
    <p:sldId id="267" r:id="rId7"/>
    <p:sldId id="266" r:id="rId8"/>
    <p:sldId id="268" r:id="rId9"/>
    <p:sldId id="269" r:id="rId10"/>
    <p:sldId id="283" r:id="rId11"/>
    <p:sldId id="271" r:id="rId12"/>
    <p:sldId id="272" r:id="rId13"/>
    <p:sldId id="273" r:id="rId14"/>
    <p:sldId id="279" r:id="rId15"/>
    <p:sldId id="281" r:id="rId16"/>
    <p:sldId id="282" r:id="rId1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FAF2B4-C07F-F0E6-7751-AC2EF25E246A}" v="1670" dt="2023-11-10T14:30:31.204"/>
    <p1510:client id="{0693E51D-027C-9370-2B54-611C3B7D602A}" v="1166" dt="2023-11-14T16:05:43.336"/>
    <p1510:client id="{093189F9-6686-5847-8277-95D2F93A65BF}" v="225" dt="2023-11-03T14:50:06.629"/>
    <p1510:client id="{0C62A114-CB46-EEC5-2B6E-4D9D4C8E3613}" v="38" dt="2023-11-03T18:18:38.287"/>
    <p1510:client id="{3A3E5EA4-3CBF-70B9-2A75-F1B97B01B0DF}" v="1076" dt="2023-11-01T19:17:48.088"/>
    <p1510:client id="{3EBCC4FB-44DC-A74F-2207-DC804A0382F8}" v="465" dt="2023-11-07T17:35:15.026"/>
    <p1510:client id="{473B7AF4-E7C0-D9EC-DC4C-966D3F1007D5}" v="53" dt="2023-11-13T19:00:37.008"/>
    <p1510:client id="{5B154161-034E-4F64-6D78-BB225CEBFBAB}" v="967" dt="2023-11-03T19:29:23.683"/>
    <p1510:client id="{5B2277B7-F507-3D93-683B-F95ED6431509}" v="317" dt="2023-11-10T18:14:22.068"/>
    <p1510:client id="{5F677544-AB99-573C-CCBB-3FC593D82139}" v="2036" dt="2023-11-14T14:42:23.227"/>
    <p1510:client id="{6BA4532E-2A99-5051-8403-6AF5BA21E83B}" v="705" dt="2023-11-10T20:23:12.565"/>
    <p1510:client id="{7152EBD2-421D-D558-4AE5-3B76307C1D79}" v="1011" dt="2023-11-14T16:20:49.180"/>
    <p1510:client id="{96588F88-00C0-5CD2-AE67-D6FBE7C5BD02}" v="119" dt="2023-11-03T16:48:57.262"/>
    <p1510:client id="{97C00320-4F25-40A2-A84D-F6CC8A03D3F3}" v="32" dt="2023-11-03T16:31:38.461"/>
    <p1510:client id="{A6344D2D-A8FF-AD15-955A-61F01CBE5E9A}" v="1669" dt="2023-11-01T20:02:06.640"/>
    <p1510:client id="{BFCB252E-CB87-3524-F1F5-06DCF33A180D}" v="1173" dt="2023-11-03T18:39:14.946"/>
    <p1510:client id="{FC890244-B1C2-0989-9409-B02AA7F69979}" v="424" dt="2023-11-13T18:58:28.4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99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EBF31C0F-1A33-4982-9D00-87F2B3D27A73}" type="slidenum">
              <a:t>‹nº›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A2238127-47BE-47A2-B582-9F02C5E99100}" type="slidenum">
              <a:t>‹nº›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D8118583-6780-4260-9F88-62C766AB0EE4}" type="slidenum">
              <a:t>‹nº›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07669D68-BDBB-43DC-B189-1C30A505D339}" type="slidenum">
              <a:t>‹nº›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59A64B49-9EE3-4E54-AF62-E41F73579E98}" type="slidenum">
              <a:t>‹nº›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250B4201-ACB3-47DD-9479-66BB22527C06}" type="slidenum">
              <a:t>‹nº›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E7CBB72C-7699-4FB3-A4BE-5CA40434966B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497E9137-A30A-467C-AB23-A230D3C0E6A9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BDFA630F-2089-4815-A0AD-DA9E812CC2C7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A55A19A3-4D52-49E4-A771-828570C7BF03}" type="slidenum">
              <a:t>‹nº›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E580D96B-3909-4C84-9890-F801F0FBC503}" type="slidenum">
              <a:t>‹nº›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39344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794916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83808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439344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794916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4768403F-B382-471C-A2E6-D9466FD96E19}" type="slidenum">
              <a:t>‹nº›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indent="0">
              <a:buNone/>
            </a:pPr>
            <a:r>
              <a:rPr lang="pt-BR" sz="1400" b="0" strike="noStrike" spc="-1">
                <a:solidFill>
                  <a:srgbClr val="000000"/>
                </a:solidFill>
                <a:latin typeface="Arial"/>
              </a:rPr>
              <a:t>Clique para editar o formato do texto do título</a:t>
            </a: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strike="noStrike" spc="-1">
                <a:solidFill>
                  <a:srgbClr val="000000"/>
                </a:solidFill>
                <a:latin typeface="Arial"/>
              </a:rPr>
              <a:t>Clique para editar o formato do texto da estrutura de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400" b="0" strike="noStrike" spc="-1">
                <a:solidFill>
                  <a:srgbClr val="000000"/>
                </a:solidFill>
                <a:latin typeface="Arial"/>
              </a:rPr>
              <a:t>2.º nível da estrutura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strike="noStrike" spc="-1">
                <a:solidFill>
                  <a:srgbClr val="000000"/>
                </a:solidFill>
                <a:latin typeface="Arial"/>
              </a:rPr>
              <a:t>3.º nível da estrutura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400" b="0" strike="noStrike" spc="-1">
                <a:solidFill>
                  <a:srgbClr val="000000"/>
                </a:solidFill>
                <a:latin typeface="Arial"/>
              </a:rPr>
              <a:t>4.º nível da estrutura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strike="noStrike" spc="-1">
                <a:solidFill>
                  <a:srgbClr val="000000"/>
                </a:solidFill>
                <a:latin typeface="Arial"/>
              </a:rPr>
              <a:t>5.º nível da estrutura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strike="noStrike" spc="-1">
                <a:solidFill>
                  <a:srgbClr val="000000"/>
                </a:solidFill>
                <a:latin typeface="Arial"/>
              </a:rPr>
              <a:t>6.º nível da estrutura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strike="noStrike" spc="-1">
                <a:solidFill>
                  <a:srgbClr val="000000"/>
                </a:solidFill>
                <a:latin typeface="Arial"/>
              </a:rPr>
              <a:t>7.º nível da estrutura de tópicos</a:t>
            </a:r>
          </a:p>
        </p:txBody>
      </p:sp>
      <p:sp>
        <p:nvSpPr>
          <p:cNvPr id="43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>
              <a:buNone/>
              <a:defRPr lang="pt-B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pt-BR" sz="1400" b="0" strike="noStrike" spc="-1">
                <a:solidFill>
                  <a:srgbClr val="000000"/>
                </a:solidFill>
                <a:latin typeface="Times New Roman"/>
              </a:rPr>
              <a:t>&lt;data/hora&gt;</a:t>
            </a:r>
          </a:p>
        </p:txBody>
      </p:sp>
      <p:sp>
        <p:nvSpPr>
          <p:cNvPr id="44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ctr">
              <a:buNone/>
              <a:defRPr lang="pt-B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strike="noStrike" spc="-1">
                <a:solidFill>
                  <a:srgbClr val="000000"/>
                </a:solidFill>
                <a:latin typeface="Times New Roman"/>
              </a:rPr>
              <a:t>&lt;rodapé&gt;</a:t>
            </a:r>
          </a:p>
        </p:txBody>
      </p:sp>
      <p:sp>
        <p:nvSpPr>
          <p:cNvPr id="45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BR" sz="1200" b="0" strike="noStrike" spc="-1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6499B4D-582D-4D49-B333-2C0B6843A8BC}" type="slidenum">
              <a:rPr lang="pt-BR" sz="1200" b="0" strike="noStrike" spc="-1">
                <a:solidFill>
                  <a:srgbClr val="888888"/>
                </a:solidFill>
                <a:latin typeface="Calibri"/>
                <a:ea typeface="Calibri"/>
              </a:rPr>
              <a:t>‹nº›</a:t>
            </a:fld>
            <a:endParaRPr lang="pt-BR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69;p2"/>
          <p:cNvPicPr/>
          <p:nvPr/>
        </p:nvPicPr>
        <p:blipFill>
          <a:blip r:embed="rId2"/>
          <a:srcRect r="65499"/>
          <a:stretch/>
        </p:blipFill>
        <p:spPr>
          <a:xfrm>
            <a:off x="0" y="0"/>
            <a:ext cx="3420720" cy="6857640"/>
          </a:xfrm>
          <a:prstGeom prst="rect">
            <a:avLst/>
          </a:prstGeom>
          <a:ln w="0">
            <a:noFill/>
          </a:ln>
        </p:spPr>
      </p:pic>
      <p:pic>
        <p:nvPicPr>
          <p:cNvPr id="175" name="Google Shape;70;p2"/>
          <p:cNvPicPr/>
          <p:nvPr/>
        </p:nvPicPr>
        <p:blipFill>
          <a:blip r:embed="rId3"/>
          <a:stretch/>
        </p:blipFill>
        <p:spPr>
          <a:xfrm>
            <a:off x="198360" y="5899320"/>
            <a:ext cx="1904760" cy="738000"/>
          </a:xfrm>
          <a:prstGeom prst="rect">
            <a:avLst/>
          </a:prstGeom>
          <a:ln w="0">
            <a:noFill/>
          </a:ln>
        </p:spPr>
      </p:pic>
      <p:sp>
        <p:nvSpPr>
          <p:cNvPr id="176" name="Google Shape;71;p2"/>
          <p:cNvSpPr/>
          <p:nvPr/>
        </p:nvSpPr>
        <p:spPr>
          <a:xfrm>
            <a:off x="455760" y="184320"/>
            <a:ext cx="8351640" cy="491760"/>
          </a:xfrm>
          <a:prstGeom prst="homePlate">
            <a:avLst>
              <a:gd name="adj" fmla="val 21328"/>
            </a:avLst>
          </a:prstGeom>
          <a:solidFill>
            <a:srgbClr val="B33259"/>
          </a:solidFill>
          <a:ln w="0">
            <a:noFill/>
          </a:ln>
          <a:effectLst>
            <a:outerShdw blurRad="63360" sx="102000" sy="102000">
              <a:srgbClr val="000000">
                <a:alpha val="3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3200" b="1" strike="noStrike" spc="-1">
                <a:solidFill>
                  <a:srgbClr val="FFFFFF"/>
                </a:solidFill>
                <a:latin typeface="Calibri"/>
                <a:ea typeface="Calibri"/>
              </a:rPr>
              <a:t>INDICADORES CONTRATUALIZADOS</a:t>
            </a: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Google Shape;72;p2"/>
          <p:cNvSpPr/>
          <p:nvPr/>
        </p:nvSpPr>
        <p:spPr>
          <a:xfrm>
            <a:off x="3582000" y="828720"/>
            <a:ext cx="8467560" cy="598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algn="just">
              <a:lnSpc>
                <a:spcPct val="100000"/>
              </a:lnSpc>
              <a:tabLst>
                <a:tab pos="0" algn="l"/>
              </a:tabLst>
            </a:pPr>
            <a:r>
              <a:rPr lang="pt-BR" sz="2100" b="1" strike="noStrike" spc="-1">
                <a:solidFill>
                  <a:srgbClr val="000000"/>
                </a:solidFill>
                <a:latin typeface="Calibri"/>
                <a:ea typeface="Calibri"/>
              </a:rPr>
              <a:t>Os indicadores apresentados seguem as diretrizes estabelecidas pelo Plano de Trabalho do Contrato de Gestão 065/2021 e </a:t>
            </a:r>
            <a:r>
              <a:rPr lang="pt-BR" sz="2100" b="1" strike="noStrike" spc="-1">
                <a:solidFill>
                  <a:srgbClr val="000000"/>
                </a:solidFill>
                <a:highlight>
                  <a:srgbClr val="FFFFFF"/>
                </a:highlight>
                <a:latin typeface="Calibri"/>
                <a:ea typeface="Calibri"/>
              </a:rPr>
              <a:t>Nota Técnica 004.2022/SMS/SURGH/CAM de 06 de dezembro de 2022. Sã</a:t>
            </a:r>
            <a:r>
              <a:rPr lang="pt-BR" sz="2100" b="1" strike="noStrike" spc="-1">
                <a:solidFill>
                  <a:srgbClr val="000000"/>
                </a:solidFill>
                <a:latin typeface="Calibri"/>
                <a:ea typeface="Calibri"/>
              </a:rPr>
              <a:t>o eles:</a:t>
            </a:r>
            <a:endParaRPr lang="pt-BR" sz="2100" b="0" strike="noStrike" spc="-1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tabLst>
                <a:tab pos="0" algn="l"/>
              </a:tabLst>
            </a:pPr>
            <a:endParaRPr lang="pt-BR" sz="2100" b="0" strike="noStrike" spc="-1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tabLst>
                <a:tab pos="0" algn="l"/>
              </a:tabLst>
            </a:pPr>
            <a:endParaRPr lang="pt-BR" sz="1900" b="0" strike="noStrike" spc="-1">
              <a:solidFill>
                <a:srgbClr val="000000"/>
              </a:solidFill>
              <a:latin typeface="Arial"/>
            </a:endParaRPr>
          </a:p>
          <a:p>
            <a:pPr marL="90000" indent="-120600" algn="just">
              <a:lnSpc>
                <a:spcPct val="100000"/>
              </a:lnSpc>
              <a:buClr>
                <a:srgbClr val="000000"/>
              </a:buClr>
              <a:buFont typeface="Calibri"/>
              <a:buChar char="⮚"/>
              <a:tabLst>
                <a:tab pos="0" algn="l"/>
              </a:tabLst>
            </a:pPr>
            <a:r>
              <a:rPr lang="pt-BR" sz="1900" b="1" strike="noStrike" spc="-1">
                <a:solidFill>
                  <a:srgbClr val="000000"/>
                </a:solidFill>
                <a:latin typeface="Calibri"/>
                <a:ea typeface="Calibri"/>
              </a:rPr>
              <a:t>TEMPO MÉDIO DE ESPERA PARA O ACOLHIMENTO COM AVALIAÇÃO E CLASSIFICAÇÃO DE RISCO</a:t>
            </a:r>
            <a:endParaRPr lang="pt-BR" sz="1900" b="0" strike="noStrike" spc="-1">
              <a:solidFill>
                <a:srgbClr val="000000"/>
              </a:solidFill>
              <a:latin typeface="Arial"/>
            </a:endParaRPr>
          </a:p>
          <a:p>
            <a:pPr marL="90000" algn="just">
              <a:lnSpc>
                <a:spcPct val="100000"/>
              </a:lnSpc>
              <a:tabLst>
                <a:tab pos="0" algn="l"/>
              </a:tabLst>
            </a:pPr>
            <a:endParaRPr lang="pt-BR" sz="1900" b="0" strike="noStrike" spc="-1">
              <a:solidFill>
                <a:srgbClr val="000000"/>
              </a:solidFill>
              <a:latin typeface="Arial"/>
            </a:endParaRPr>
          </a:p>
          <a:p>
            <a:pPr marL="90000" indent="-120600" algn="just">
              <a:lnSpc>
                <a:spcPct val="100000"/>
              </a:lnSpc>
              <a:buClr>
                <a:srgbClr val="000000"/>
              </a:buClr>
              <a:buFont typeface="Calibri"/>
              <a:buChar char="⮚"/>
              <a:tabLst>
                <a:tab pos="0" algn="l"/>
              </a:tabLst>
            </a:pPr>
            <a:r>
              <a:rPr lang="pt-BR" sz="1900" b="1" strike="noStrike" spc="-1">
                <a:solidFill>
                  <a:srgbClr val="000000"/>
                </a:solidFill>
                <a:latin typeface="Calibri"/>
                <a:ea typeface="Calibri"/>
              </a:rPr>
              <a:t>TEMPO MÉDIO DE ESPERA PARA PACIENTES CLASSIFICADOS COM RISCO VERDE</a:t>
            </a:r>
            <a:endParaRPr lang="pt-BR" sz="1900" b="0" strike="noStrike" spc="-1">
              <a:solidFill>
                <a:srgbClr val="000000"/>
              </a:solidFill>
              <a:latin typeface="Arial"/>
            </a:endParaRPr>
          </a:p>
          <a:p>
            <a:pPr marL="90000" algn="just">
              <a:lnSpc>
                <a:spcPct val="100000"/>
              </a:lnSpc>
              <a:tabLst>
                <a:tab pos="0" algn="l"/>
              </a:tabLst>
            </a:pPr>
            <a:endParaRPr lang="pt-BR" sz="1900" b="0" strike="noStrike" spc="-1">
              <a:solidFill>
                <a:srgbClr val="000000"/>
              </a:solidFill>
              <a:latin typeface="Arial"/>
            </a:endParaRPr>
          </a:p>
          <a:p>
            <a:pPr marL="90000" indent="-120600" algn="just">
              <a:lnSpc>
                <a:spcPct val="100000"/>
              </a:lnSpc>
              <a:buClr>
                <a:srgbClr val="000000"/>
              </a:buClr>
              <a:buFont typeface="Calibri"/>
              <a:buChar char="⮚"/>
              <a:tabLst>
                <a:tab pos="0" algn="l"/>
              </a:tabLst>
            </a:pPr>
            <a:r>
              <a:rPr lang="pt-BR" sz="1900" b="1" strike="noStrike" spc="-1">
                <a:solidFill>
                  <a:srgbClr val="000000"/>
                </a:solidFill>
                <a:latin typeface="Calibri"/>
                <a:ea typeface="Calibri"/>
              </a:rPr>
              <a:t>TEMPO MÉDIO DE ESPERA PARA PACIENTES CLASSIFICADOS COM RISCO AMARELO</a:t>
            </a:r>
            <a:endParaRPr lang="pt-BR" sz="1900" b="0" strike="noStrike" spc="-1">
              <a:solidFill>
                <a:srgbClr val="000000"/>
              </a:solidFill>
              <a:latin typeface="Arial"/>
            </a:endParaRPr>
          </a:p>
          <a:p>
            <a:pPr marL="90000" algn="just">
              <a:lnSpc>
                <a:spcPct val="100000"/>
              </a:lnSpc>
              <a:tabLst>
                <a:tab pos="0" algn="l"/>
              </a:tabLst>
            </a:pPr>
            <a:endParaRPr lang="pt-BR" sz="1900" b="0" strike="noStrike" spc="-1">
              <a:solidFill>
                <a:srgbClr val="000000"/>
              </a:solidFill>
              <a:latin typeface="Arial"/>
            </a:endParaRPr>
          </a:p>
          <a:p>
            <a:pPr marL="90000" indent="-120600" algn="just">
              <a:lnSpc>
                <a:spcPct val="100000"/>
              </a:lnSpc>
              <a:buClr>
                <a:srgbClr val="000000"/>
              </a:buClr>
              <a:buFont typeface="Calibri"/>
              <a:buChar char="⮚"/>
              <a:tabLst>
                <a:tab pos="0" algn="l"/>
              </a:tabLst>
            </a:pPr>
            <a:r>
              <a:rPr lang="pt-BR" sz="1900" b="1" strike="noStrike" spc="-1">
                <a:solidFill>
                  <a:srgbClr val="000000"/>
                </a:solidFill>
                <a:latin typeface="Calibri"/>
                <a:ea typeface="Calibri"/>
              </a:rPr>
              <a:t>PERCENTUAL DE DESISTÊNCIA PARA ATENDIMENTO MÉDICO</a:t>
            </a:r>
            <a:endParaRPr lang="pt-BR" sz="1900" b="0" strike="noStrike" spc="-1">
              <a:solidFill>
                <a:srgbClr val="000000"/>
              </a:solidFill>
              <a:latin typeface="Arial"/>
            </a:endParaRPr>
          </a:p>
          <a:p>
            <a:pPr marL="90000" algn="just">
              <a:lnSpc>
                <a:spcPct val="100000"/>
              </a:lnSpc>
              <a:tabLst>
                <a:tab pos="0" algn="l"/>
              </a:tabLst>
            </a:pPr>
            <a:endParaRPr lang="pt-BR" sz="1900" b="0" strike="noStrike" spc="-1">
              <a:solidFill>
                <a:srgbClr val="000000"/>
              </a:solidFill>
              <a:latin typeface="Arial"/>
            </a:endParaRPr>
          </a:p>
          <a:p>
            <a:pPr marL="90000" indent="-120600" algn="just">
              <a:lnSpc>
                <a:spcPct val="100000"/>
              </a:lnSpc>
              <a:buClr>
                <a:srgbClr val="000000"/>
              </a:buClr>
              <a:buFont typeface="Calibri"/>
              <a:buChar char="⮚"/>
              <a:tabLst>
                <a:tab pos="0" algn="l"/>
              </a:tabLst>
            </a:pPr>
            <a:r>
              <a:rPr lang="pt-BR" sz="1900" b="1" strike="noStrike" spc="-1">
                <a:solidFill>
                  <a:schemeClr val="dk1"/>
                </a:solidFill>
                <a:latin typeface="Calibri"/>
                <a:ea typeface="Calibri"/>
              </a:rPr>
              <a:t>PERCENTUAL DE ESCALA MÉDICA EXECUTADA NAS ESPECIALIDADES DE CLÍNICA MÉDICA, PEDIATRIA E CIRURGIA</a:t>
            </a:r>
            <a:endParaRPr lang="pt-BR" sz="1900" b="0" strike="noStrike" spc="-1">
              <a:solidFill>
                <a:srgbClr val="000000"/>
              </a:solidFill>
              <a:latin typeface="Arial"/>
            </a:endParaRPr>
          </a:p>
          <a:p>
            <a:pPr marL="90000" algn="just">
              <a:lnSpc>
                <a:spcPct val="100000"/>
              </a:lnSpc>
              <a:tabLst>
                <a:tab pos="0" algn="l"/>
              </a:tabLst>
            </a:pPr>
            <a:endParaRPr lang="pt-BR" sz="1900" b="0" strike="noStrike" spc="-1">
              <a:solidFill>
                <a:srgbClr val="000000"/>
              </a:solidFill>
              <a:latin typeface="Arial"/>
            </a:endParaRPr>
          </a:p>
          <a:p>
            <a:pPr marL="90000" indent="-120600" algn="just">
              <a:lnSpc>
                <a:spcPct val="100000"/>
              </a:lnSpc>
              <a:buClr>
                <a:srgbClr val="000000"/>
              </a:buClr>
              <a:buFont typeface="Calibri"/>
              <a:buChar char="⮚"/>
              <a:tabLst>
                <a:tab pos="0" algn="l"/>
              </a:tabLst>
            </a:pPr>
            <a:r>
              <a:rPr lang="pt-BR" sz="1900" b="1" strike="noStrike" spc="-1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</a:rPr>
              <a:t>PERCENTUAL DE PROFISSIONAIS COM MÉDIA DE 30 MINUTOS DE CAPACITAÇÃO</a:t>
            </a:r>
            <a:endParaRPr lang="pt-BR" sz="1900" b="0" strike="noStrike" spc="-1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tabLst>
                <a:tab pos="0" algn="l"/>
              </a:tabLst>
            </a:pPr>
            <a:endParaRPr lang="pt-BR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59;p3"/>
          <p:cNvPicPr/>
          <p:nvPr/>
        </p:nvPicPr>
        <p:blipFill>
          <a:blip r:embed="rId2"/>
          <a:srcRect r="65499"/>
          <a:stretch/>
        </p:blipFill>
        <p:spPr>
          <a:xfrm>
            <a:off x="-195120" y="0"/>
            <a:ext cx="2074680" cy="6857640"/>
          </a:xfrm>
          <a:prstGeom prst="rect">
            <a:avLst/>
          </a:prstGeom>
          <a:ln w="0">
            <a:noFill/>
          </a:ln>
        </p:spPr>
      </p:pic>
      <p:pic>
        <p:nvPicPr>
          <p:cNvPr id="169" name="Google Shape;60;p3"/>
          <p:cNvPicPr/>
          <p:nvPr/>
        </p:nvPicPr>
        <p:blipFill>
          <a:blip r:embed="rId3"/>
          <a:stretch/>
        </p:blipFill>
        <p:spPr>
          <a:xfrm>
            <a:off x="46080" y="5899320"/>
            <a:ext cx="1904760" cy="738000"/>
          </a:xfrm>
          <a:prstGeom prst="rect">
            <a:avLst/>
          </a:prstGeom>
          <a:ln w="0">
            <a:noFill/>
          </a:ln>
        </p:spPr>
      </p:pic>
      <p:sp>
        <p:nvSpPr>
          <p:cNvPr id="170" name="Google Shape;61;p3"/>
          <p:cNvSpPr/>
          <p:nvPr/>
        </p:nvSpPr>
        <p:spPr>
          <a:xfrm>
            <a:off x="46080" y="100080"/>
            <a:ext cx="8745120" cy="587160"/>
          </a:xfrm>
          <a:prstGeom prst="homePlate">
            <a:avLst>
              <a:gd name="adj" fmla="val 21291"/>
            </a:avLst>
          </a:prstGeom>
          <a:solidFill>
            <a:srgbClr val="B33259"/>
          </a:solidFill>
          <a:ln w="0">
            <a:noFill/>
          </a:ln>
          <a:effectLst>
            <a:outerShdw blurRad="63360" sx="102000" sy="102000">
              <a:srgbClr val="000000">
                <a:alpha val="3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2000" b="1" strike="noStrike" spc="-1">
                <a:solidFill>
                  <a:srgbClr val="FFFFFF"/>
                </a:solidFill>
                <a:latin typeface="Calibri"/>
                <a:ea typeface="Calibri"/>
              </a:rPr>
              <a:t>PERFIL DE ATENDIMENTO MÉDICO NAS UNIDADES DE PRONTO ATENDIMENTO</a:t>
            </a:r>
            <a:endParaRPr lang="pt-BR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Google Shape;62;p3"/>
          <p:cNvSpPr/>
          <p:nvPr/>
        </p:nvSpPr>
        <p:spPr>
          <a:xfrm>
            <a:off x="3582000" y="828720"/>
            <a:ext cx="8467560" cy="384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marL="343080" indent="-222120" algn="just">
              <a:lnSpc>
                <a:spcPct val="100000"/>
              </a:lnSpc>
              <a:tabLst>
                <a:tab pos="0" algn="l"/>
              </a:tabLst>
            </a:pPr>
            <a:endParaRPr lang="pt-BR" sz="1900" b="0" strike="noStrike" spc="-1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</a:endParaRPr>
          </a:p>
        </p:txBody>
      </p:sp>
      <p:graphicFrame>
        <p:nvGraphicFramePr>
          <p:cNvPr id="172" name="Google Shape;63;p3"/>
          <p:cNvGraphicFramePr/>
          <p:nvPr>
            <p:extLst>
              <p:ext uri="{D42A27DB-BD31-4B8C-83A1-F6EECF244321}">
                <p14:modId xmlns:p14="http://schemas.microsoft.com/office/powerpoint/2010/main" val="2072836686"/>
              </p:ext>
            </p:extLst>
          </p:nvPr>
        </p:nvGraphicFramePr>
        <p:xfrm>
          <a:off x="2016000" y="851040"/>
          <a:ext cx="9401740" cy="5306760"/>
        </p:xfrm>
        <a:graphic>
          <a:graphicData uri="http://schemas.openxmlformats.org/drawingml/2006/table">
            <a:tbl>
              <a:tblPr/>
              <a:tblGrid>
                <a:gridCol w="15674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58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39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355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49243">
                  <a:extLst>
                    <a:ext uri="{9D8B030D-6E8A-4147-A177-3AD203B41FA5}">
                      <a16:colId xmlns:a16="http://schemas.microsoft.com/office/drawing/2014/main" val="2865004945"/>
                    </a:ext>
                  </a:extLst>
                </a:gridCol>
                <a:gridCol w="18498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0839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2200" b="1" strike="noStrike" spc="-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PRIORIDADE CLÍNICA </a:t>
                      </a:r>
                      <a:endParaRPr lang="pt-BR" sz="22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 anchor="ctr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solidFill>
                      <a:srgbClr val="B332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2200" b="1" strike="noStrike" spc="-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UPA JK </a:t>
                      </a:r>
                      <a:endParaRPr lang="pt-BR" sz="22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 anchor="ctr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solidFill>
                      <a:srgbClr val="B332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2200" b="1" strike="noStrike" spc="-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RESSACA </a:t>
                      </a:r>
                    </a:p>
                    <a:p>
                      <a:pPr lvl="0" algn="ctr">
                        <a:lnSpc>
                          <a:spcPct val="100000"/>
                        </a:lnSpc>
                        <a:buNone/>
                      </a:pPr>
                      <a:r>
                        <a:rPr lang="pt-BR" sz="2200" b="1" strike="noStrike" spc="-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SET/OUT</a:t>
                      </a:r>
                    </a:p>
                  </a:txBody>
                  <a:tcPr marL="91080" marR="91080" anchor="ctr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solidFill>
                      <a:srgbClr val="B332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2200" b="1" strike="noStrike" spc="-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VARGEM DAS FLORES </a:t>
                      </a:r>
                      <a:endParaRPr lang="pt-BR" sz="22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 anchor="ctr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solidFill>
                      <a:srgbClr val="B3325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</a:pPr>
                      <a:r>
                        <a:rPr lang="pt-BR" sz="2200" b="1" strike="noStrike" spc="-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PETROLÂNDIA </a:t>
                      </a:r>
                      <a:endParaRPr lang="pt-BR" sz="22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 anchor="ctr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solidFill>
                      <a:srgbClr val="B332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2200" b="0" strike="noStrike" spc="-1">
                          <a:solidFill>
                            <a:schemeClr val="bg1"/>
                          </a:solidFill>
                          <a:latin typeface="Arial"/>
                        </a:rPr>
                        <a:t>INDUSTRIAL</a:t>
                      </a:r>
                    </a:p>
                  </a:txBody>
                  <a:tcPr marL="91080" marR="91080" anchor="ctr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solidFill>
                      <a:srgbClr val="B332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3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800" b="1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VERMELHO</a:t>
                      </a:r>
                      <a:endParaRPr lang="pt-BR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 anchor="ctr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 rtl="0" eaLnBrk="1" latinLnBrk="0" hangingPunct="1">
                        <a:buNone/>
                      </a:pPr>
                      <a:r>
                        <a:rPr lang="pt-BR" sz="1700" b="1" strike="noStrike" kern="1200" spc="-1">
                          <a:solidFill>
                            <a:srgbClr val="000000"/>
                          </a:solidFill>
                          <a:latin typeface="Arial"/>
                          <a:cs typeface="+mn-cs"/>
                        </a:rPr>
                        <a:t>09</a:t>
                      </a:r>
                    </a:p>
                  </a:txBody>
                  <a:tcPr marL="91080" marR="91080" anchor="ctr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700" b="1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15/18</a:t>
                      </a:r>
                    </a:p>
                  </a:txBody>
                  <a:tcPr marL="91080" marR="91080" anchor="ctr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700" b="1" strike="noStrike" spc="-1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19</a:t>
                      </a:r>
                    </a:p>
                  </a:txBody>
                  <a:tcPr marL="91080" marR="91080" anchor="ctr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 rtl="0">
                        <a:buNone/>
                      </a:pPr>
                      <a:r>
                        <a:rPr lang="pt-BR" sz="1700" b="1" strike="noStrike" kern="1200" spc="-1">
                          <a:solidFill>
                            <a:srgbClr val="000000"/>
                          </a:solidFill>
                          <a:latin typeface="Arial"/>
                          <a:ea typeface="+mn-ea"/>
                          <a:cs typeface="+mn-cs"/>
                        </a:rPr>
                        <a:t>13/2</a:t>
                      </a:r>
                      <a:endParaRPr lang="pt-BR"/>
                    </a:p>
                  </a:txBody>
                  <a:tcPr marL="91080" marR="91080" anchor="ctr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 rtl="0" eaLnBrk="1" latinLnBrk="0" hangingPunct="1">
                        <a:buNone/>
                      </a:pPr>
                      <a:r>
                        <a:rPr lang="pt-BR" sz="1700" b="1" strike="noStrike" kern="1200" spc="-1">
                          <a:solidFill>
                            <a:srgbClr val="000000"/>
                          </a:solidFill>
                          <a:latin typeface="Arial"/>
                          <a:ea typeface="+mn-ea"/>
                          <a:cs typeface="+mn-cs"/>
                        </a:rPr>
                        <a:t>02/40</a:t>
                      </a:r>
                    </a:p>
                  </a:txBody>
                  <a:tcPr marL="91080" marR="91080" anchor="ctr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45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800" b="1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LARANJA </a:t>
                      </a:r>
                      <a:endParaRPr lang="pt-BR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 anchor="ctr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BR" sz="1700" b="1" strike="noStrike" spc="-1">
                          <a:solidFill>
                            <a:srgbClr val="000000"/>
                          </a:solidFill>
                          <a:latin typeface="Arial"/>
                        </a:rPr>
                        <a:t>241</a:t>
                      </a:r>
                      <a:endParaRPr lang="pt-BR"/>
                    </a:p>
                  </a:txBody>
                  <a:tcPr marL="91080" marR="91080" anchor="ctr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700" b="1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75/54</a:t>
                      </a:r>
                    </a:p>
                  </a:txBody>
                  <a:tcPr marL="91080" marR="91080" anchor="ctr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700" b="1" strike="noStrike" spc="-1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132/125</a:t>
                      </a:r>
                    </a:p>
                  </a:txBody>
                  <a:tcPr marL="91080" marR="91080" anchor="ctr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BR" sz="1700" b="1" strike="noStrike" spc="-1">
                          <a:solidFill>
                            <a:srgbClr val="000000"/>
                          </a:solidFill>
                          <a:latin typeface="Arial"/>
                        </a:rPr>
                        <a:t>83/8</a:t>
                      </a:r>
                      <a:endParaRPr lang="pt-BR"/>
                    </a:p>
                  </a:txBody>
                  <a:tcPr marL="91080" marR="91080" anchor="ctr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700" b="1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32/0</a:t>
                      </a:r>
                    </a:p>
                  </a:txBody>
                  <a:tcPr marL="91080" marR="91080" anchor="ctr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solidFill>
                      <a:srgbClr val="F6B2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3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800" b="1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AMARELO </a:t>
                      </a:r>
                      <a:endParaRPr lang="pt-BR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 anchor="ctr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BR" sz="1700" b="1" strike="noStrike" spc="-1">
                          <a:solidFill>
                            <a:srgbClr val="000000"/>
                          </a:solidFill>
                          <a:latin typeface="Arial"/>
                        </a:rPr>
                        <a:t>1223</a:t>
                      </a:r>
                      <a:endParaRPr lang="pt-BR"/>
                    </a:p>
                  </a:txBody>
                  <a:tcPr marL="91080" marR="91080" anchor="ctr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700" b="1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1127/1217</a:t>
                      </a:r>
                    </a:p>
                  </a:txBody>
                  <a:tcPr marL="91080" marR="91080" anchor="ctr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700" b="1" strike="noStrike" spc="-1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1066/1149</a:t>
                      </a:r>
                    </a:p>
                  </a:txBody>
                  <a:tcPr marL="91080" marR="91080" anchor="ctr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BR" sz="1700" b="1" strike="noStrike" spc="-1">
                          <a:solidFill>
                            <a:srgbClr val="000000"/>
                          </a:solidFill>
                          <a:latin typeface="Arial"/>
                        </a:rPr>
                        <a:t>944 / 961</a:t>
                      </a:r>
                      <a:endParaRPr lang="pt-BR"/>
                    </a:p>
                  </a:txBody>
                  <a:tcPr marL="91080" marR="91080" anchor="ctr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700" b="1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265/898</a:t>
                      </a:r>
                    </a:p>
                  </a:txBody>
                  <a:tcPr marL="91080" marR="91080" anchor="ctr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45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800" b="1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VERDE </a:t>
                      </a:r>
                      <a:endParaRPr lang="pt-BR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 anchor="ctr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BR" sz="1700" b="1" strike="noStrike" spc="-1">
                          <a:solidFill>
                            <a:srgbClr val="000000"/>
                          </a:solidFill>
                          <a:latin typeface="Arial"/>
                        </a:rPr>
                        <a:t>5495</a:t>
                      </a:r>
                      <a:endParaRPr lang="pt-BR"/>
                    </a:p>
                  </a:txBody>
                  <a:tcPr marL="91080" marR="91080" anchor="ctr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700" b="1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5353/5613</a:t>
                      </a:r>
                    </a:p>
                  </a:txBody>
                  <a:tcPr marL="91080" marR="91080" anchor="ctr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700" b="1" strike="noStrike" spc="-1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6178/6104</a:t>
                      </a:r>
                    </a:p>
                  </a:txBody>
                  <a:tcPr marL="91080" marR="91080" anchor="ctr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BR" sz="1700" b="1" strike="noStrike" spc="-1">
                          <a:solidFill>
                            <a:srgbClr val="000000"/>
                          </a:solidFill>
                          <a:latin typeface="Arial"/>
                        </a:rPr>
                        <a:t>3386 / 3515</a:t>
                      </a:r>
                      <a:endParaRPr lang="pt-BR"/>
                    </a:p>
                  </a:txBody>
                  <a:tcPr marL="91080" marR="91080" anchor="ctr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700" b="1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1333/4488</a:t>
                      </a:r>
                    </a:p>
                  </a:txBody>
                  <a:tcPr marL="91080" marR="91080" anchor="ctr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solidFill>
                      <a:srgbClr val="93C4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45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800" b="1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AZUL</a:t>
                      </a:r>
                      <a:endParaRPr lang="pt-BR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 anchor="ctr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BR" sz="1700" b="1" strike="noStrike" spc="-1">
                          <a:solidFill>
                            <a:srgbClr val="000000"/>
                          </a:solidFill>
                          <a:latin typeface="Arial"/>
                        </a:rPr>
                        <a:t>48</a:t>
                      </a:r>
                      <a:endParaRPr lang="pt-BR"/>
                    </a:p>
                  </a:txBody>
                  <a:tcPr marL="91080" marR="91080" anchor="ctr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700" b="1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37/41</a:t>
                      </a:r>
                    </a:p>
                  </a:txBody>
                  <a:tcPr marL="91080" marR="91080" anchor="ctr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700" b="1" strike="noStrike" spc="-1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8/6</a:t>
                      </a:r>
                    </a:p>
                  </a:txBody>
                  <a:tcPr marL="91080" marR="91080" anchor="ctr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rtl="0">
                        <a:buNone/>
                      </a:pPr>
                      <a:r>
                        <a:rPr lang="pt-BR" sz="1700" b="1" strike="noStrike" kern="1200" spc="-1">
                          <a:solidFill>
                            <a:srgbClr val="000000"/>
                          </a:solidFill>
                          <a:latin typeface="Arial"/>
                          <a:cs typeface="+mn-cs"/>
                        </a:rPr>
                        <a:t>12 / 4</a:t>
                      </a:r>
                      <a:endParaRPr lang="pt-BR"/>
                    </a:p>
                  </a:txBody>
                  <a:tcPr marL="91080" marR="91080" anchor="ctr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lang="pt-BR" sz="1700" b="1" strike="noStrike" kern="1200" spc="-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+mn-cs"/>
                        </a:rPr>
                        <a:t>4/112</a:t>
                      </a:r>
                    </a:p>
                  </a:txBody>
                  <a:tcPr marL="91080" marR="91080" anchor="ctr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solidFill>
                      <a:srgbClr val="6D9E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03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800" b="1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BRANCO </a:t>
                      </a:r>
                      <a:endParaRPr lang="pt-BR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 anchor="ctr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BR" sz="1700" b="1" strike="noStrike" spc="-1">
                          <a:solidFill>
                            <a:srgbClr val="000000"/>
                          </a:solidFill>
                          <a:latin typeface="Arial"/>
                        </a:rPr>
                        <a:t>740</a:t>
                      </a:r>
                      <a:endParaRPr lang="pt-BR"/>
                    </a:p>
                  </a:txBody>
                  <a:tcPr marL="91080" marR="91080" anchor="ctr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700" b="1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442/390</a:t>
                      </a:r>
                    </a:p>
                  </a:txBody>
                  <a:tcPr marL="91080" marR="91080" anchor="ctr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700" b="1" strike="noStrike" spc="-1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246/255</a:t>
                      </a:r>
                    </a:p>
                  </a:txBody>
                  <a:tcPr marL="91080" marR="91080" anchor="ctr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BR" sz="1700" b="1" strike="noStrike" spc="-1">
                          <a:solidFill>
                            <a:srgbClr val="000000"/>
                          </a:solidFill>
                          <a:latin typeface="Arial"/>
                        </a:rPr>
                        <a:t>263 / 13</a:t>
                      </a:r>
                      <a:endParaRPr lang="pt-BR"/>
                    </a:p>
                  </a:txBody>
                  <a:tcPr marL="91080" marR="91080" anchor="ctr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700" b="1" strike="noStrike" spc="-1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0/0</a:t>
                      </a:r>
                    </a:p>
                  </a:txBody>
                  <a:tcPr marL="91080" marR="91080" anchor="ctr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solidFill>
                      <a:srgbClr val="E5CC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73" name="Google Shape;64;p3"/>
          <p:cNvSpPr/>
          <p:nvPr/>
        </p:nvSpPr>
        <p:spPr>
          <a:xfrm>
            <a:off x="1951200" y="6462720"/>
            <a:ext cx="5722560" cy="335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8480" bIns="16848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1100" b="1" strike="noStrike" spc="-1">
                <a:solidFill>
                  <a:srgbClr val="B31166"/>
                </a:solidFill>
                <a:latin typeface="Arial"/>
                <a:ea typeface="Arial"/>
              </a:rPr>
              <a:t>FONTE: Dados extraídos do relatório NPA - Tempos de Classificação - SPDATA</a:t>
            </a:r>
            <a:endParaRPr lang="pt-BR" sz="11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86;g246373b9294_0_50"/>
          <p:cNvPicPr/>
          <p:nvPr/>
        </p:nvPicPr>
        <p:blipFill>
          <a:blip r:embed="rId2"/>
          <a:srcRect r="65499"/>
          <a:stretch/>
        </p:blipFill>
        <p:spPr>
          <a:xfrm>
            <a:off x="-195120" y="76320"/>
            <a:ext cx="2074680" cy="6857640"/>
          </a:xfrm>
          <a:prstGeom prst="rect">
            <a:avLst/>
          </a:prstGeom>
          <a:ln w="0">
            <a:noFill/>
          </a:ln>
        </p:spPr>
      </p:pic>
      <p:pic>
        <p:nvPicPr>
          <p:cNvPr id="184" name="Google Shape;87;g246373b9294_0_50"/>
          <p:cNvPicPr/>
          <p:nvPr/>
        </p:nvPicPr>
        <p:blipFill>
          <a:blip r:embed="rId3"/>
          <a:stretch/>
        </p:blipFill>
        <p:spPr>
          <a:xfrm>
            <a:off x="46080" y="5899320"/>
            <a:ext cx="1904760" cy="738000"/>
          </a:xfrm>
          <a:prstGeom prst="rect">
            <a:avLst/>
          </a:prstGeom>
          <a:ln w="0">
            <a:noFill/>
          </a:ln>
        </p:spPr>
      </p:pic>
      <p:sp>
        <p:nvSpPr>
          <p:cNvPr id="185" name="Google Shape;88;g246373b9294_0_50"/>
          <p:cNvSpPr/>
          <p:nvPr/>
        </p:nvSpPr>
        <p:spPr>
          <a:xfrm>
            <a:off x="50760" y="31680"/>
            <a:ext cx="8745120" cy="382320"/>
          </a:xfrm>
          <a:prstGeom prst="homePlate">
            <a:avLst>
              <a:gd name="adj" fmla="val 21399"/>
            </a:avLst>
          </a:prstGeom>
          <a:solidFill>
            <a:srgbClr val="B33259"/>
          </a:solidFill>
          <a:ln w="0">
            <a:noFill/>
          </a:ln>
          <a:effectLst>
            <a:outerShdw blurRad="63360" sx="102000" sy="102000">
              <a:srgbClr val="000000">
                <a:alpha val="3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2000" b="1" strike="noStrike" spc="-1">
                <a:solidFill>
                  <a:srgbClr val="FFFFFF"/>
                </a:solidFill>
                <a:latin typeface="Calibri"/>
                <a:ea typeface="Calibri"/>
              </a:rPr>
              <a:t>PERFIL DE ATENDIMENTO MÉDICO NAS UNIDADES DE PRONTO ATENDIMENTO</a:t>
            </a:r>
            <a:endParaRPr lang="pt-BR" sz="2000" b="0" strike="noStrike" spc="-1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86" name="Google Shape;89;g246373b9294_0_50"/>
          <p:cNvGraphicFramePr/>
          <p:nvPr>
            <p:extLst>
              <p:ext uri="{D42A27DB-BD31-4B8C-83A1-F6EECF244321}">
                <p14:modId xmlns:p14="http://schemas.microsoft.com/office/powerpoint/2010/main" val="1799376995"/>
              </p:ext>
            </p:extLst>
          </p:nvPr>
        </p:nvGraphicFramePr>
        <p:xfrm>
          <a:off x="2029192" y="488102"/>
          <a:ext cx="9729778" cy="7184585"/>
        </p:xfrm>
        <a:graphic>
          <a:graphicData uri="http://schemas.openxmlformats.org/drawingml/2006/table">
            <a:tbl>
              <a:tblPr/>
              <a:tblGrid>
                <a:gridCol w="19091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66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93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18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513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5136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6776">
                <a:tc>
                  <a:txBody>
                    <a:bodyPr/>
                    <a:lstStyle/>
                    <a:p>
                      <a:pPr marL="228600" algn="ctr"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pt-BR" sz="1300" b="1" strike="noStrike" spc="-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Unidade</a:t>
                      </a:r>
                      <a:endParaRPr lang="pt-BR" sz="13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B311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pt-BR" sz="1300" b="1" strike="noStrike" spc="-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Categoria</a:t>
                      </a:r>
                      <a:endParaRPr lang="pt-BR" sz="13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8720">
                      <a:solidFill>
                        <a:srgbClr val="FFFFFF"/>
                      </a:solidFill>
                    </a:lnB>
                    <a:solidFill>
                      <a:srgbClr val="B3116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4999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300" b="1" strike="noStrike" spc="-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Julho 23</a:t>
                      </a:r>
                      <a:endParaRPr lang="pt-BR" sz="13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8720">
                      <a:solidFill>
                        <a:srgbClr val="FFFFFF"/>
                      </a:solidFill>
                    </a:lnB>
                    <a:solidFill>
                      <a:srgbClr val="B3116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4999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spc="-1" dirty="0">
                          <a:solidFill>
                            <a:schemeClr val="lt1"/>
                          </a:solidFill>
                          <a:latin typeface="Calibri"/>
                          <a:ea typeface="Calibri"/>
                        </a:rPr>
                        <a:t>Agosto</a:t>
                      </a:r>
                      <a:endParaRPr lang="pt-BR" sz="16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8720">
                      <a:solidFill>
                        <a:srgbClr val="FFFFFF"/>
                      </a:solidFill>
                    </a:lnB>
                    <a:solidFill>
                      <a:srgbClr val="B3116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4999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spc="-1" dirty="0">
                          <a:solidFill>
                            <a:schemeClr val="lt1"/>
                          </a:solidFill>
                          <a:latin typeface="Arial"/>
                          <a:ea typeface="Calibri"/>
                        </a:rPr>
                        <a:t>Setembro</a:t>
                      </a:r>
                      <a:endParaRPr lang="pt-BR" sz="16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8720">
                      <a:solidFill>
                        <a:srgbClr val="FFFFFF"/>
                      </a:solidFill>
                    </a:lnB>
                    <a:solidFill>
                      <a:srgbClr val="B311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pt-BR" sz="1600" b="1" strike="noStrike" spc="-1" dirty="0">
                          <a:solidFill>
                            <a:schemeClr val="lt1"/>
                          </a:solidFill>
                          <a:latin typeface="Calibri"/>
                        </a:rPr>
                        <a:t>Outubro</a:t>
                      </a: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8720">
                      <a:solidFill>
                        <a:srgbClr val="FFFFFF"/>
                      </a:solidFill>
                    </a:lnB>
                    <a:solidFill>
                      <a:srgbClr val="B311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7098">
                <a:tc rowSpan="6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6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UPA</a:t>
                      </a:r>
                      <a:endParaRPr lang="pt-BR" sz="16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6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JK </a:t>
                      </a:r>
                      <a:endParaRPr lang="pt-BR" sz="16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 anchor="ctr">
                    <a:lnL w="12240">
                      <a:solidFill>
                        <a:srgbClr val="FFFFFF"/>
                      </a:solidFill>
                    </a:lnL>
                    <a:lnR w="1872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872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pt-BR" sz="14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Clínica Médica</a:t>
                      </a:r>
                      <a:endParaRPr lang="pt-BR" sz="14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8720">
                      <a:solidFill>
                        <a:srgbClr val="FFFFFF"/>
                      </a:solidFill>
                    </a:lnL>
                    <a:lnR w="18720">
                      <a:solidFill>
                        <a:srgbClr val="FFFFFF"/>
                      </a:solidFill>
                    </a:lnR>
                    <a:lnT w="18720">
                      <a:solidFill>
                        <a:srgbClr val="FFFFFF"/>
                      </a:solidFill>
                    </a:lnT>
                    <a:lnB w="1872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4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5938</a:t>
                      </a:r>
                      <a:endParaRPr lang="pt-BR" sz="14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 anchor="ctr">
                    <a:lnL w="18720">
                      <a:solidFill>
                        <a:srgbClr val="FFFFFF"/>
                      </a:solidFill>
                    </a:lnL>
                    <a:lnR w="18720">
                      <a:solidFill>
                        <a:srgbClr val="FFFFFF"/>
                      </a:solidFill>
                    </a:lnR>
                    <a:lnT w="18720">
                      <a:solidFill>
                        <a:srgbClr val="FFFFFF"/>
                      </a:solidFill>
                    </a:lnT>
                    <a:lnB w="1872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4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7019</a:t>
                      </a:r>
                      <a:endParaRPr lang="pt-BR" sz="14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 anchor="ctr">
                    <a:lnL w="18720">
                      <a:solidFill>
                        <a:srgbClr val="FFFFFF"/>
                      </a:solidFill>
                    </a:lnL>
                    <a:lnR w="18720">
                      <a:solidFill>
                        <a:srgbClr val="FFFFFF"/>
                      </a:solidFill>
                    </a:lnR>
                    <a:lnT w="18720">
                      <a:solidFill>
                        <a:srgbClr val="FFFFFF"/>
                      </a:solidFill>
                    </a:lnT>
                    <a:lnB w="1872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  <a:tabLst>
                          <a:tab pos="0" algn="l"/>
                        </a:tabLst>
                      </a:pPr>
                      <a:r>
                        <a:rPr lang="pt-BR" sz="14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4692</a:t>
                      </a:r>
                      <a:endParaRPr lang="pt-BR" dirty="0"/>
                    </a:p>
                  </a:txBody>
                  <a:tcPr marL="91080" marR="91080" anchor="ctr">
                    <a:lnL w="18720">
                      <a:solidFill>
                        <a:srgbClr val="FFFFFF"/>
                      </a:solidFill>
                    </a:lnL>
                    <a:lnR w="18720">
                      <a:solidFill>
                        <a:srgbClr val="FFFFFF"/>
                      </a:solidFill>
                    </a:lnR>
                    <a:lnT w="18720">
                      <a:solidFill>
                        <a:srgbClr val="FFFFFF"/>
                      </a:solidFill>
                    </a:lnT>
                    <a:lnB w="1872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5220</a:t>
                      </a:r>
                    </a:p>
                  </a:txBody>
                  <a:tcPr marL="91080" marR="91080" anchor="ctr">
                    <a:lnL w="18720">
                      <a:solidFill>
                        <a:srgbClr val="FFFFFF"/>
                      </a:solidFill>
                    </a:lnL>
                    <a:lnR w="18720">
                      <a:solidFill>
                        <a:srgbClr val="FFFFFF"/>
                      </a:solidFill>
                    </a:lnR>
                    <a:lnT w="18720">
                      <a:solidFill>
                        <a:srgbClr val="FFFFFF"/>
                      </a:solidFill>
                    </a:lnT>
                    <a:lnB w="1872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4840">
                <a:tc vMerge="1">
                  <a:txBody>
                    <a:bodyPr/>
                    <a:lstStyle/>
                    <a:p>
                      <a:endParaRPr lang="pt-BR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4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Ortopedia</a:t>
                      </a:r>
                      <a:endParaRPr lang="pt-BR" sz="14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8720">
                      <a:solidFill>
                        <a:srgbClr val="FFFFFF"/>
                      </a:solidFill>
                    </a:lnL>
                    <a:lnR w="18720">
                      <a:solidFill>
                        <a:srgbClr val="FFFFFF"/>
                      </a:solidFill>
                    </a:lnR>
                    <a:lnT w="18720">
                      <a:solidFill>
                        <a:srgbClr val="FFFFFF"/>
                      </a:solidFill>
                    </a:lnT>
                    <a:lnB w="1872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4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2148</a:t>
                      </a:r>
                      <a:endParaRPr lang="pt-BR" sz="14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 anchor="ctr">
                    <a:lnL w="18720">
                      <a:solidFill>
                        <a:srgbClr val="FFFFFF"/>
                      </a:solidFill>
                    </a:lnL>
                    <a:lnR w="18720">
                      <a:solidFill>
                        <a:srgbClr val="FFFFFF"/>
                      </a:solidFill>
                    </a:lnR>
                    <a:lnT w="18720">
                      <a:solidFill>
                        <a:srgbClr val="FFFFFF"/>
                      </a:solidFill>
                    </a:lnT>
                    <a:lnB w="1872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4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2523</a:t>
                      </a:r>
                      <a:endParaRPr lang="pt-BR" sz="14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 anchor="ctr">
                    <a:lnL w="18720">
                      <a:solidFill>
                        <a:srgbClr val="FFFFFF"/>
                      </a:solidFill>
                    </a:lnL>
                    <a:lnR w="18720">
                      <a:solidFill>
                        <a:srgbClr val="FFFFFF"/>
                      </a:solidFill>
                    </a:lnR>
                    <a:lnT w="18720">
                      <a:solidFill>
                        <a:srgbClr val="FFFFFF"/>
                      </a:solidFill>
                    </a:lnT>
                    <a:lnB w="1872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  <a:tabLst>
                          <a:tab pos="0" algn="l"/>
                        </a:tabLst>
                      </a:pPr>
                      <a:r>
                        <a:rPr lang="pt-BR" sz="14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1556</a:t>
                      </a:r>
                      <a:endParaRPr lang="pt-BR" dirty="0"/>
                    </a:p>
                  </a:txBody>
                  <a:tcPr marL="91080" marR="91080" anchor="ctr">
                    <a:lnL w="18720">
                      <a:solidFill>
                        <a:srgbClr val="FFFFFF"/>
                      </a:solidFill>
                    </a:lnL>
                    <a:lnR w="18720">
                      <a:solidFill>
                        <a:srgbClr val="FFFFFF"/>
                      </a:solidFill>
                    </a:lnR>
                    <a:lnT w="18720">
                      <a:solidFill>
                        <a:srgbClr val="FFFFFF"/>
                      </a:solidFill>
                    </a:lnT>
                    <a:lnB w="1872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559</a:t>
                      </a:r>
                    </a:p>
                  </a:txBody>
                  <a:tcPr marL="91080" marR="91080" anchor="ctr">
                    <a:lnL w="18720">
                      <a:solidFill>
                        <a:srgbClr val="FFFFFF"/>
                      </a:solidFill>
                    </a:lnL>
                    <a:lnR w="18720">
                      <a:solidFill>
                        <a:srgbClr val="FFFFFF"/>
                      </a:solidFill>
                    </a:lnR>
                    <a:lnT w="18720">
                      <a:solidFill>
                        <a:srgbClr val="FFFFFF"/>
                      </a:solidFill>
                    </a:lnT>
                    <a:lnB w="1872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4840">
                <a:tc vMerge="1">
                  <a:txBody>
                    <a:bodyPr/>
                    <a:lstStyle/>
                    <a:p>
                      <a:endParaRPr lang="pt-BR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4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Cirurgia</a:t>
                      </a:r>
                      <a:endParaRPr lang="pt-BR" sz="14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8720">
                      <a:solidFill>
                        <a:srgbClr val="FFFFFF"/>
                      </a:solidFill>
                    </a:lnL>
                    <a:lnR w="18720">
                      <a:solidFill>
                        <a:srgbClr val="FFFFFF"/>
                      </a:solidFill>
                    </a:lnR>
                    <a:lnT w="18720">
                      <a:solidFill>
                        <a:srgbClr val="FFFFFF"/>
                      </a:solidFill>
                    </a:lnT>
                    <a:lnB w="1872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4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1177</a:t>
                      </a:r>
                      <a:endParaRPr lang="pt-BR" sz="14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 anchor="ctr">
                    <a:lnL w="18720">
                      <a:solidFill>
                        <a:srgbClr val="FFFFFF"/>
                      </a:solidFill>
                    </a:lnL>
                    <a:lnR w="18720">
                      <a:solidFill>
                        <a:srgbClr val="FFFFFF"/>
                      </a:solidFill>
                    </a:lnR>
                    <a:lnT w="18720">
                      <a:solidFill>
                        <a:srgbClr val="FFFFFF"/>
                      </a:solidFill>
                    </a:lnT>
                    <a:lnB w="1872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4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1310</a:t>
                      </a:r>
                      <a:endParaRPr lang="pt-BR" sz="14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 anchor="ctr">
                    <a:lnL w="18720">
                      <a:solidFill>
                        <a:srgbClr val="FFFFFF"/>
                      </a:solidFill>
                    </a:lnL>
                    <a:lnR w="18720">
                      <a:solidFill>
                        <a:srgbClr val="FFFFFF"/>
                      </a:solidFill>
                    </a:lnR>
                    <a:lnT w="18720">
                      <a:solidFill>
                        <a:srgbClr val="FFFFFF"/>
                      </a:solidFill>
                    </a:lnT>
                    <a:lnB w="1872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  <a:tabLst>
                          <a:tab pos="0" algn="l"/>
                        </a:tabLst>
                      </a:pPr>
                      <a:r>
                        <a:rPr lang="pt-BR" sz="14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853</a:t>
                      </a:r>
                      <a:endParaRPr lang="pt-BR" dirty="0"/>
                    </a:p>
                  </a:txBody>
                  <a:tcPr marL="91080" marR="91080" anchor="ctr">
                    <a:lnL w="18720">
                      <a:solidFill>
                        <a:srgbClr val="FFFFFF"/>
                      </a:solidFill>
                    </a:lnL>
                    <a:lnR w="18720">
                      <a:solidFill>
                        <a:srgbClr val="FFFFFF"/>
                      </a:solidFill>
                    </a:lnR>
                    <a:lnT w="18720">
                      <a:solidFill>
                        <a:srgbClr val="FFFFFF"/>
                      </a:solidFill>
                    </a:lnT>
                    <a:lnB w="1872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873</a:t>
                      </a:r>
                    </a:p>
                  </a:txBody>
                  <a:tcPr marL="91080" marR="91080" anchor="ctr">
                    <a:lnL w="18720">
                      <a:solidFill>
                        <a:srgbClr val="FFFFFF"/>
                      </a:solidFill>
                    </a:lnL>
                    <a:lnR w="18720">
                      <a:solidFill>
                        <a:srgbClr val="FFFFFF"/>
                      </a:solidFill>
                    </a:lnR>
                    <a:lnT w="18720">
                      <a:solidFill>
                        <a:srgbClr val="FFFFFF"/>
                      </a:solidFill>
                    </a:lnT>
                    <a:lnB w="1872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4840">
                <a:tc vMerge="1">
                  <a:txBody>
                    <a:bodyPr/>
                    <a:lstStyle/>
                    <a:p>
                      <a:endParaRPr lang="pt-BR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4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Odontologia</a:t>
                      </a:r>
                      <a:endParaRPr lang="pt-BR" sz="14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8720">
                      <a:solidFill>
                        <a:srgbClr val="FFFFFF"/>
                      </a:solidFill>
                    </a:lnL>
                    <a:lnR w="18720">
                      <a:solidFill>
                        <a:srgbClr val="FFFFFF"/>
                      </a:solidFill>
                    </a:lnR>
                    <a:lnT w="18720">
                      <a:solidFill>
                        <a:srgbClr val="FFFFFF"/>
                      </a:solidFill>
                    </a:lnT>
                    <a:lnB w="1872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4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91</a:t>
                      </a:r>
                      <a:endParaRPr lang="pt-BR" sz="14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 anchor="ctr">
                    <a:lnL w="18720">
                      <a:solidFill>
                        <a:srgbClr val="FFFFFF"/>
                      </a:solidFill>
                    </a:lnL>
                    <a:lnR w="18720">
                      <a:solidFill>
                        <a:srgbClr val="FFFFFF"/>
                      </a:solidFill>
                    </a:lnR>
                    <a:lnT w="18720">
                      <a:solidFill>
                        <a:srgbClr val="FFFFFF"/>
                      </a:solidFill>
                    </a:lnT>
                    <a:lnB w="1872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4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184</a:t>
                      </a:r>
                      <a:endParaRPr lang="pt-BR" sz="14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 anchor="ctr">
                    <a:lnL w="18720">
                      <a:solidFill>
                        <a:srgbClr val="FFFFFF"/>
                      </a:solidFill>
                    </a:lnL>
                    <a:lnR w="18720">
                      <a:solidFill>
                        <a:srgbClr val="FFFFFF"/>
                      </a:solidFill>
                    </a:lnR>
                    <a:lnT w="18720">
                      <a:solidFill>
                        <a:srgbClr val="FFFFFF"/>
                      </a:solidFill>
                    </a:lnT>
                    <a:lnB w="1872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  <a:tabLst>
                          <a:tab pos="0" algn="l"/>
                        </a:tabLst>
                      </a:pPr>
                      <a:r>
                        <a:rPr lang="pt-BR" sz="14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146</a:t>
                      </a:r>
                      <a:endParaRPr lang="pt-BR" dirty="0"/>
                    </a:p>
                  </a:txBody>
                  <a:tcPr marL="91080" marR="91080" anchor="ctr">
                    <a:lnL w="18720">
                      <a:solidFill>
                        <a:srgbClr val="FFFFFF"/>
                      </a:solidFill>
                    </a:lnL>
                    <a:lnR w="18720">
                      <a:solidFill>
                        <a:srgbClr val="FFFFFF"/>
                      </a:solidFill>
                    </a:lnR>
                    <a:lnT w="18720">
                      <a:solidFill>
                        <a:srgbClr val="FFFFFF"/>
                      </a:solidFill>
                    </a:lnT>
                    <a:lnB w="1872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179</a:t>
                      </a:r>
                    </a:p>
                  </a:txBody>
                  <a:tcPr marL="91080" marR="91080" anchor="ctr">
                    <a:lnL w="18720">
                      <a:solidFill>
                        <a:srgbClr val="FFFFFF"/>
                      </a:solidFill>
                    </a:lnL>
                    <a:lnR w="18720">
                      <a:solidFill>
                        <a:srgbClr val="FFFFFF"/>
                      </a:solidFill>
                    </a:lnR>
                    <a:lnT w="18720">
                      <a:solidFill>
                        <a:srgbClr val="FFFFFF"/>
                      </a:solidFill>
                    </a:lnT>
                    <a:lnB w="1872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7098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4999"/>
                        </a:lnSpc>
                        <a:buNone/>
                      </a:pPr>
                      <a:r>
                        <a:rPr lang="pt-BR" sz="1400" b="1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Atendimento </a:t>
                      </a:r>
                      <a:r>
                        <a:rPr lang="pt-BR" sz="1400" b="1" strike="noStrike" spc="-1" dirty="0" err="1">
                          <a:solidFill>
                            <a:srgbClr val="000000"/>
                          </a:solidFill>
                          <a:latin typeface="Calibri"/>
                        </a:rPr>
                        <a:t>on</a:t>
                      </a:r>
                      <a:r>
                        <a:rPr lang="pt-BR" sz="1400" b="1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lang="pt-BR" sz="1400" b="1" strike="noStrike" spc="-1" dirty="0" err="1">
                          <a:solidFill>
                            <a:srgbClr val="000000"/>
                          </a:solidFill>
                          <a:latin typeface="Calibri"/>
                        </a:rPr>
                        <a:t>line</a:t>
                      </a:r>
                    </a:p>
                  </a:txBody>
                  <a:tcPr marL="9360" marR="9360" anchor="ctr">
                    <a:lnL w="18720">
                      <a:solidFill>
                        <a:srgbClr val="FFFFFF"/>
                      </a:solidFill>
                    </a:lnL>
                    <a:lnR w="18720">
                      <a:solidFill>
                        <a:srgbClr val="FFFFFF"/>
                      </a:solidFill>
                    </a:lnR>
                    <a:lnT w="18720">
                      <a:solidFill>
                        <a:srgbClr val="FFFFFF"/>
                      </a:solidFill>
                    </a:lnT>
                    <a:lnB w="1872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400" b="1" strike="noStrike" spc="-1" dirty="0">
                          <a:solidFill>
                            <a:schemeClr val="tx1"/>
                          </a:solidFill>
                          <a:latin typeface="Calibri"/>
                        </a:rPr>
                        <a:t>1796</a:t>
                      </a:r>
                      <a:endParaRPr lang="pt-BR" sz="1400" b="1" strike="noStrike" spc="-1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080" marR="91080" anchor="ctr">
                    <a:lnL w="18720">
                      <a:solidFill>
                        <a:srgbClr val="FFFFFF"/>
                      </a:solidFill>
                    </a:lnL>
                    <a:lnR w="18720">
                      <a:solidFill>
                        <a:srgbClr val="FFFFFF"/>
                      </a:solidFill>
                    </a:lnR>
                    <a:lnT w="18720">
                      <a:solidFill>
                        <a:srgbClr val="FFFFFF"/>
                      </a:solidFill>
                    </a:lnT>
                    <a:lnB w="1872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400" b="1" strike="noStrike" spc="-1" dirty="0">
                          <a:solidFill>
                            <a:schemeClr val="tx1"/>
                          </a:solidFill>
                          <a:latin typeface="Calibri"/>
                        </a:rPr>
                        <a:t>1791</a:t>
                      </a:r>
                    </a:p>
                  </a:txBody>
                  <a:tcPr marL="91080" marR="91080" anchor="ctr">
                    <a:lnL w="18720">
                      <a:solidFill>
                        <a:srgbClr val="FFFFFF"/>
                      </a:solidFill>
                    </a:lnL>
                    <a:lnR w="18720">
                      <a:solidFill>
                        <a:srgbClr val="FFFFFF"/>
                      </a:solidFill>
                    </a:lnR>
                    <a:lnT w="18720">
                      <a:solidFill>
                        <a:srgbClr val="FFFFFF"/>
                      </a:solidFill>
                    </a:lnT>
                    <a:lnB w="1872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  <a:tabLst>
                          <a:tab pos="0" algn="l"/>
                        </a:tabLst>
                      </a:pPr>
                      <a:r>
                        <a:rPr lang="pt-BR" sz="1400" b="1" strike="noStrike" spc="-1" dirty="0">
                          <a:solidFill>
                            <a:schemeClr val="tx1"/>
                          </a:solidFill>
                          <a:latin typeface="Calibri"/>
                        </a:rPr>
                        <a:t>3080</a:t>
                      </a:r>
                    </a:p>
                  </a:txBody>
                  <a:tcPr marL="91080" marR="91080" anchor="ctr">
                    <a:lnL w="18720">
                      <a:solidFill>
                        <a:srgbClr val="FFFFFF"/>
                      </a:solidFill>
                    </a:lnL>
                    <a:lnR w="18720">
                      <a:solidFill>
                        <a:srgbClr val="FFFFFF"/>
                      </a:solidFill>
                    </a:lnR>
                    <a:lnT w="18720">
                      <a:solidFill>
                        <a:srgbClr val="FFFFFF"/>
                      </a:solidFill>
                    </a:lnT>
                    <a:lnB w="1872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BR" sz="1400" b="1" strike="noStrike" spc="-1" dirty="0">
                          <a:solidFill>
                            <a:schemeClr val="tx1"/>
                          </a:solidFill>
                          <a:latin typeface="Calibri"/>
                        </a:rPr>
                        <a:t>740</a:t>
                      </a:r>
                    </a:p>
                  </a:txBody>
                  <a:tcPr marL="91080" marR="91080" anchor="ctr">
                    <a:lnL w="18720">
                      <a:solidFill>
                        <a:srgbClr val="FFFFFF"/>
                      </a:solidFill>
                    </a:lnL>
                    <a:lnR w="18720">
                      <a:solidFill>
                        <a:srgbClr val="FFFFFF"/>
                      </a:solidFill>
                    </a:lnR>
                    <a:lnT w="18720">
                      <a:solidFill>
                        <a:srgbClr val="FFFFFF"/>
                      </a:solidFill>
                    </a:lnT>
                    <a:lnB w="1872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343837"/>
                  </a:ext>
                </a:extLst>
              </a:tr>
              <a:tr h="244840">
                <a:tc vMerge="1">
                  <a:txBody>
                    <a:bodyPr/>
                    <a:lstStyle/>
                    <a:p>
                      <a:endParaRPr lang="pt-BR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400" b="1" strike="noStrike" spc="-1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</a:rPr>
                        <a:t>Total de Atendimentos</a:t>
                      </a:r>
                      <a:endParaRPr lang="pt-BR" sz="14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8720">
                      <a:solidFill>
                        <a:srgbClr val="FFFFFF"/>
                      </a:solidFill>
                    </a:lnL>
                    <a:lnR w="18720">
                      <a:solidFill>
                        <a:srgbClr val="FFFFFF"/>
                      </a:solidFill>
                    </a:lnR>
                    <a:lnT w="18720">
                      <a:solidFill>
                        <a:srgbClr val="FFFFFF"/>
                      </a:solidFill>
                    </a:lnT>
                    <a:lnB w="1872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400" b="1" strike="noStrike" spc="-1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</a:rPr>
                        <a:t>11150</a:t>
                      </a:r>
                    </a:p>
                  </a:txBody>
                  <a:tcPr marL="91080" marR="91080" anchor="ctr">
                    <a:lnL w="18720">
                      <a:solidFill>
                        <a:srgbClr val="FFFFFF"/>
                      </a:solidFill>
                    </a:lnL>
                    <a:lnR w="18720">
                      <a:solidFill>
                        <a:srgbClr val="FFFFFF"/>
                      </a:solidFill>
                    </a:lnR>
                    <a:lnT w="18720">
                      <a:solidFill>
                        <a:srgbClr val="FFFFFF"/>
                      </a:solidFill>
                    </a:lnT>
                    <a:lnB w="1872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400" b="1" strike="noStrike" spc="-1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</a:rPr>
                        <a:t>12827</a:t>
                      </a:r>
                      <a:endParaRPr lang="pt-BR" sz="14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 anchor="ctr">
                    <a:lnL w="18720">
                      <a:solidFill>
                        <a:srgbClr val="FFFFFF"/>
                      </a:solidFill>
                    </a:lnL>
                    <a:lnR w="18720">
                      <a:solidFill>
                        <a:srgbClr val="FFFFFF"/>
                      </a:solidFill>
                    </a:lnR>
                    <a:lnT w="18720">
                      <a:solidFill>
                        <a:srgbClr val="FFFFFF"/>
                      </a:solidFill>
                    </a:lnT>
                    <a:lnB w="1872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  <a:tabLst>
                          <a:tab pos="0" algn="l"/>
                        </a:tabLst>
                      </a:pPr>
                      <a:r>
                        <a:rPr lang="pt-BR" sz="1400" b="1" strike="noStrike" spc="-1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</a:rPr>
                        <a:t>10327</a:t>
                      </a:r>
                    </a:p>
                  </a:txBody>
                  <a:tcPr marL="91080" marR="91080" anchor="ctr">
                    <a:lnL w="18720">
                      <a:solidFill>
                        <a:srgbClr val="FFFFFF"/>
                      </a:solidFill>
                    </a:lnL>
                    <a:lnR w="18720">
                      <a:solidFill>
                        <a:srgbClr val="FFFFFF"/>
                      </a:solidFill>
                    </a:lnR>
                    <a:lnT w="18720">
                      <a:solidFill>
                        <a:srgbClr val="FFFFFF"/>
                      </a:solidFill>
                    </a:lnT>
                    <a:lnB w="1872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 strike="noStrike" spc="-1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</a:rPr>
                        <a:t>7571</a:t>
                      </a:r>
                    </a:p>
                  </a:txBody>
                  <a:tcPr marL="91080" marR="91080" anchor="ctr">
                    <a:lnL w="18720">
                      <a:solidFill>
                        <a:srgbClr val="FFFFFF"/>
                      </a:solidFill>
                    </a:lnL>
                    <a:lnR w="18720">
                      <a:solidFill>
                        <a:srgbClr val="FFFFFF"/>
                      </a:solidFill>
                    </a:lnR>
                    <a:lnT w="18720">
                      <a:solidFill>
                        <a:srgbClr val="FFFFFF"/>
                      </a:solidFill>
                    </a:lnT>
                    <a:lnB w="1872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7098">
                <a:tc rowSpan="4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6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UPA Vargem das Flores</a:t>
                      </a:r>
                      <a:endParaRPr lang="pt-BR" sz="16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 anchor="ctr">
                    <a:lnL w="12240">
                      <a:solidFill>
                        <a:srgbClr val="FFFFFF"/>
                      </a:solidFill>
                    </a:lnL>
                    <a:lnR w="18720">
                      <a:solidFill>
                        <a:srgbClr val="FFFFFF"/>
                      </a:solidFill>
                    </a:lnR>
                    <a:lnT w="1872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pt-BR" sz="14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Clínica Médica</a:t>
                      </a:r>
                      <a:endParaRPr lang="pt-BR" sz="14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8720">
                      <a:solidFill>
                        <a:srgbClr val="FFFFFF"/>
                      </a:solidFill>
                    </a:lnL>
                    <a:lnR w="18720">
                      <a:solidFill>
                        <a:srgbClr val="FFFFFF"/>
                      </a:solidFill>
                    </a:lnR>
                    <a:lnT w="18720">
                      <a:solidFill>
                        <a:srgbClr val="FFFFFF"/>
                      </a:solidFill>
                    </a:lnT>
                    <a:lnB w="1872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4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4492</a:t>
                      </a:r>
                      <a:endParaRPr lang="pt-BR" sz="14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 anchor="ctr">
                    <a:lnL w="18720">
                      <a:solidFill>
                        <a:srgbClr val="FFFFFF"/>
                      </a:solidFill>
                    </a:lnL>
                    <a:lnR w="18720">
                      <a:solidFill>
                        <a:srgbClr val="FFFFFF"/>
                      </a:solidFill>
                    </a:lnR>
                    <a:lnT w="18720">
                      <a:solidFill>
                        <a:srgbClr val="FFFFFF"/>
                      </a:solidFill>
                    </a:lnT>
                    <a:lnB w="1872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4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4900</a:t>
                      </a:r>
                      <a:endParaRPr lang="pt-BR" sz="14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 anchor="ctr">
                    <a:lnL w="18720">
                      <a:solidFill>
                        <a:srgbClr val="FFFFFF"/>
                      </a:solidFill>
                    </a:lnL>
                    <a:lnR w="18720">
                      <a:solidFill>
                        <a:srgbClr val="FFFFFF"/>
                      </a:solidFill>
                    </a:lnR>
                    <a:lnT w="18720">
                      <a:solidFill>
                        <a:srgbClr val="FFFFFF"/>
                      </a:solidFill>
                    </a:lnT>
                    <a:lnB w="1872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  <a:tabLst>
                          <a:tab pos="0" algn="l"/>
                        </a:tabLst>
                      </a:pPr>
                      <a:r>
                        <a:rPr lang="pt-BR" sz="14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4951</a:t>
                      </a:r>
                      <a:endParaRPr lang="pt-BR" dirty="0"/>
                    </a:p>
                  </a:txBody>
                  <a:tcPr marL="91080" marR="91080" anchor="ctr">
                    <a:lnL w="18720">
                      <a:solidFill>
                        <a:srgbClr val="FFFFFF"/>
                      </a:solidFill>
                    </a:lnL>
                    <a:lnR w="18720">
                      <a:solidFill>
                        <a:srgbClr val="FFFFFF"/>
                      </a:solidFill>
                    </a:lnR>
                    <a:lnT w="18720">
                      <a:solidFill>
                        <a:srgbClr val="FFFFFF"/>
                      </a:solidFill>
                    </a:lnT>
                    <a:lnB w="1872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5104</a:t>
                      </a:r>
                    </a:p>
                  </a:txBody>
                  <a:tcPr marL="91080" marR="91080" anchor="ctr">
                    <a:lnL w="18720">
                      <a:solidFill>
                        <a:srgbClr val="FFFFFF"/>
                      </a:solidFill>
                    </a:lnL>
                    <a:lnR w="18720">
                      <a:solidFill>
                        <a:srgbClr val="FFFFFF"/>
                      </a:solidFill>
                    </a:lnR>
                    <a:lnT w="18720">
                      <a:solidFill>
                        <a:srgbClr val="FFFFFF"/>
                      </a:solidFill>
                    </a:lnT>
                    <a:lnB w="1872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4840">
                <a:tc vMerge="1">
                  <a:txBody>
                    <a:bodyPr/>
                    <a:lstStyle/>
                    <a:p>
                      <a:endParaRPr lang="pt-BR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4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Cirurgia</a:t>
                      </a:r>
                      <a:endParaRPr lang="pt-BR" sz="14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8720">
                      <a:solidFill>
                        <a:srgbClr val="FFFFFF"/>
                      </a:solidFill>
                    </a:lnL>
                    <a:lnR w="18720">
                      <a:solidFill>
                        <a:srgbClr val="FFFFFF"/>
                      </a:solidFill>
                    </a:lnR>
                    <a:lnT w="18720">
                      <a:solidFill>
                        <a:srgbClr val="FFFFFF"/>
                      </a:solidFill>
                    </a:lnT>
                    <a:lnB w="1872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4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507</a:t>
                      </a:r>
                      <a:endParaRPr lang="pt-BR" sz="14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 anchor="ctr">
                    <a:lnL w="18720">
                      <a:solidFill>
                        <a:srgbClr val="FFFFFF"/>
                      </a:solidFill>
                    </a:lnL>
                    <a:lnR w="18720">
                      <a:solidFill>
                        <a:srgbClr val="FFFFFF"/>
                      </a:solidFill>
                    </a:lnR>
                    <a:lnT w="18720">
                      <a:solidFill>
                        <a:srgbClr val="FFFFFF"/>
                      </a:solidFill>
                    </a:lnT>
                    <a:lnB w="1872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4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648</a:t>
                      </a:r>
                      <a:endParaRPr lang="pt-BR" sz="14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 anchor="ctr">
                    <a:lnL w="18720">
                      <a:solidFill>
                        <a:srgbClr val="FFFFFF"/>
                      </a:solidFill>
                    </a:lnL>
                    <a:lnR w="18720">
                      <a:solidFill>
                        <a:srgbClr val="FFFFFF"/>
                      </a:solidFill>
                    </a:lnR>
                    <a:lnT w="18720">
                      <a:solidFill>
                        <a:srgbClr val="FFFFFF"/>
                      </a:solidFill>
                    </a:lnT>
                    <a:lnB w="1872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  <a:tabLst>
                          <a:tab pos="0" algn="l"/>
                        </a:tabLst>
                      </a:pPr>
                      <a:r>
                        <a:rPr lang="pt-BR" sz="14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696</a:t>
                      </a:r>
                      <a:endParaRPr lang="pt-BR" dirty="0"/>
                    </a:p>
                  </a:txBody>
                  <a:tcPr marL="91080" marR="91080" anchor="ctr">
                    <a:lnL w="18720">
                      <a:solidFill>
                        <a:srgbClr val="FFFFFF"/>
                      </a:solidFill>
                    </a:lnL>
                    <a:lnR w="18720">
                      <a:solidFill>
                        <a:srgbClr val="FFFFFF"/>
                      </a:solidFill>
                    </a:lnR>
                    <a:lnT w="18720">
                      <a:solidFill>
                        <a:srgbClr val="FFFFFF"/>
                      </a:solidFill>
                    </a:lnT>
                    <a:lnB w="1872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798</a:t>
                      </a:r>
                    </a:p>
                  </a:txBody>
                  <a:tcPr marL="91080" marR="91080" anchor="ctr">
                    <a:lnL w="18720">
                      <a:solidFill>
                        <a:srgbClr val="FFFFFF"/>
                      </a:solidFill>
                    </a:lnL>
                    <a:lnR w="18720">
                      <a:solidFill>
                        <a:srgbClr val="FFFFFF"/>
                      </a:solidFill>
                    </a:lnR>
                    <a:lnT w="18720">
                      <a:solidFill>
                        <a:srgbClr val="FFFFFF"/>
                      </a:solidFill>
                    </a:lnT>
                    <a:lnB w="1872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4840">
                <a:tc vMerge="1">
                  <a:txBody>
                    <a:bodyPr/>
                    <a:lstStyle/>
                    <a:p>
                      <a:endParaRPr lang="pt-BR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4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Pediatria</a:t>
                      </a:r>
                      <a:endParaRPr lang="pt-BR" sz="14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8720">
                      <a:solidFill>
                        <a:srgbClr val="FFFFFF"/>
                      </a:solidFill>
                    </a:lnL>
                    <a:lnR w="18720">
                      <a:solidFill>
                        <a:srgbClr val="FFFFFF"/>
                      </a:solidFill>
                    </a:lnR>
                    <a:lnT w="18720">
                      <a:solidFill>
                        <a:srgbClr val="FFFFFF"/>
                      </a:solidFill>
                    </a:lnT>
                    <a:lnB w="1872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4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1495</a:t>
                      </a:r>
                      <a:endParaRPr lang="pt-BR" sz="14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 anchor="ctr">
                    <a:lnL w="18720">
                      <a:solidFill>
                        <a:srgbClr val="FFFFFF"/>
                      </a:solidFill>
                    </a:lnL>
                    <a:lnR w="18720">
                      <a:solidFill>
                        <a:srgbClr val="FFFFFF"/>
                      </a:solidFill>
                    </a:lnR>
                    <a:lnT w="18720">
                      <a:solidFill>
                        <a:srgbClr val="FFFFFF"/>
                      </a:solidFill>
                    </a:lnT>
                    <a:lnB w="1872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4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1604</a:t>
                      </a:r>
                      <a:endParaRPr lang="pt-BR" sz="14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 anchor="ctr">
                    <a:lnL w="18720">
                      <a:solidFill>
                        <a:srgbClr val="FFFFFF"/>
                      </a:solidFill>
                    </a:lnL>
                    <a:lnR w="18720">
                      <a:solidFill>
                        <a:srgbClr val="FFFFFF"/>
                      </a:solidFill>
                    </a:lnR>
                    <a:lnT w="18720">
                      <a:solidFill>
                        <a:srgbClr val="FFFFFF"/>
                      </a:solidFill>
                    </a:lnT>
                    <a:lnB w="1872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  <a:tabLst>
                          <a:tab pos="0" algn="l"/>
                        </a:tabLst>
                      </a:pPr>
                      <a:r>
                        <a:rPr lang="pt-BR" sz="14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1801</a:t>
                      </a:r>
                      <a:endParaRPr lang="pt-BR" dirty="0"/>
                    </a:p>
                  </a:txBody>
                  <a:tcPr marL="91080" marR="91080" anchor="ctr">
                    <a:lnL w="18720">
                      <a:solidFill>
                        <a:srgbClr val="FFFFFF"/>
                      </a:solidFill>
                    </a:lnL>
                    <a:lnR w="18720">
                      <a:solidFill>
                        <a:srgbClr val="FFFFFF"/>
                      </a:solidFill>
                    </a:lnR>
                    <a:lnT w="18720">
                      <a:solidFill>
                        <a:srgbClr val="FFFFFF"/>
                      </a:solidFill>
                    </a:lnT>
                    <a:lnB w="1872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1782</a:t>
                      </a:r>
                    </a:p>
                  </a:txBody>
                  <a:tcPr marL="91080" marR="91080" anchor="ctr">
                    <a:lnL w="18720">
                      <a:solidFill>
                        <a:srgbClr val="FFFFFF"/>
                      </a:solidFill>
                    </a:lnL>
                    <a:lnR w="18720">
                      <a:solidFill>
                        <a:srgbClr val="FFFFFF"/>
                      </a:solidFill>
                    </a:lnR>
                    <a:lnT w="18720">
                      <a:solidFill>
                        <a:srgbClr val="FFFFFF"/>
                      </a:solidFill>
                    </a:lnT>
                    <a:lnB w="1872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4840">
                <a:tc vMerge="1">
                  <a:txBody>
                    <a:bodyPr/>
                    <a:lstStyle/>
                    <a:p>
                      <a:endParaRPr lang="pt-BR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400" b="1" strike="noStrike" spc="-1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</a:rPr>
                        <a:t>Total de Atendimentos</a:t>
                      </a:r>
                      <a:endParaRPr lang="pt-BR" sz="14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8720">
                      <a:solidFill>
                        <a:srgbClr val="FFFFFF"/>
                      </a:solidFill>
                    </a:lnL>
                    <a:lnR w="18720">
                      <a:solidFill>
                        <a:srgbClr val="FFFFFF"/>
                      </a:solidFill>
                    </a:lnR>
                    <a:lnT w="18720">
                      <a:solidFill>
                        <a:srgbClr val="FFFFFF"/>
                      </a:solidFill>
                    </a:lnT>
                    <a:lnB w="1872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400" b="1" strike="noStrike" spc="-1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</a:rPr>
                        <a:t>6494</a:t>
                      </a:r>
                      <a:endParaRPr lang="pt-BR" sz="14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 anchor="ctr">
                    <a:lnL w="18720">
                      <a:solidFill>
                        <a:srgbClr val="FFFFFF"/>
                      </a:solidFill>
                    </a:lnL>
                    <a:lnR w="18720">
                      <a:solidFill>
                        <a:srgbClr val="FFFFFF"/>
                      </a:solidFill>
                    </a:lnR>
                    <a:lnT w="18720">
                      <a:solidFill>
                        <a:srgbClr val="FFFFFF"/>
                      </a:solidFill>
                    </a:lnT>
                    <a:lnB w="1872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400" b="1" strike="noStrike" spc="-1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</a:rPr>
                        <a:t>7152</a:t>
                      </a:r>
                      <a:endParaRPr lang="pt-BR" sz="14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 anchor="ctr">
                    <a:lnL w="18720">
                      <a:solidFill>
                        <a:srgbClr val="FFFFFF"/>
                      </a:solidFill>
                    </a:lnL>
                    <a:lnR w="18720">
                      <a:solidFill>
                        <a:srgbClr val="FFFFFF"/>
                      </a:solidFill>
                    </a:lnR>
                    <a:lnT w="18720">
                      <a:solidFill>
                        <a:srgbClr val="FFFFFF"/>
                      </a:solidFill>
                    </a:lnT>
                    <a:lnB w="1872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  <a:tabLst>
                          <a:tab pos="0" algn="l"/>
                        </a:tabLst>
                      </a:pPr>
                      <a:r>
                        <a:rPr lang="pt-BR" sz="1400" b="1" strike="noStrike" spc="-1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</a:rPr>
                        <a:t>7448</a:t>
                      </a:r>
                      <a:endParaRPr lang="pt-BR" dirty="0"/>
                    </a:p>
                  </a:txBody>
                  <a:tcPr marL="91080" marR="91080" anchor="ctr">
                    <a:lnL w="18720">
                      <a:solidFill>
                        <a:srgbClr val="FFFFFF"/>
                      </a:solidFill>
                    </a:lnL>
                    <a:lnR w="18720">
                      <a:solidFill>
                        <a:srgbClr val="FFFFFF"/>
                      </a:solidFill>
                    </a:lnR>
                    <a:lnT w="18720">
                      <a:solidFill>
                        <a:srgbClr val="FFFFFF"/>
                      </a:solidFill>
                    </a:lnT>
                    <a:lnB w="1872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 strike="noStrike" spc="-1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</a:rPr>
                        <a:t>7684</a:t>
                      </a:r>
                    </a:p>
                  </a:txBody>
                  <a:tcPr marL="91080" marR="91080" anchor="ctr">
                    <a:lnL w="18720">
                      <a:solidFill>
                        <a:srgbClr val="FFFFFF"/>
                      </a:solidFill>
                    </a:lnL>
                    <a:lnR w="18720">
                      <a:solidFill>
                        <a:srgbClr val="FFFFFF"/>
                      </a:solidFill>
                    </a:lnR>
                    <a:lnT w="18720">
                      <a:solidFill>
                        <a:srgbClr val="FFFFFF"/>
                      </a:solidFill>
                    </a:lnT>
                    <a:lnB w="1872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7098">
                <a:tc rowSpan="5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6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UPA Ressaca</a:t>
                      </a:r>
                      <a:endParaRPr lang="pt-BR" sz="16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 anchor="ctr">
                    <a:lnL w="12240">
                      <a:solidFill>
                        <a:srgbClr val="FFFFFF"/>
                      </a:solidFill>
                    </a:lnL>
                    <a:lnR w="1872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pt-BR" sz="14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Clínica Médica</a:t>
                      </a:r>
                      <a:endParaRPr lang="pt-BR" sz="14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8720">
                      <a:solidFill>
                        <a:srgbClr val="FFFFFF"/>
                      </a:solidFill>
                    </a:lnL>
                    <a:lnR w="18720">
                      <a:solidFill>
                        <a:srgbClr val="FFFFFF"/>
                      </a:solidFill>
                    </a:lnR>
                    <a:lnT w="18720">
                      <a:solidFill>
                        <a:srgbClr val="FFFFFF"/>
                      </a:solidFill>
                    </a:lnT>
                    <a:lnB w="1872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4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4200</a:t>
                      </a:r>
                      <a:endParaRPr lang="pt-BR" sz="14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 anchor="ctr">
                    <a:lnL w="18720">
                      <a:solidFill>
                        <a:srgbClr val="FFFFFF"/>
                      </a:solidFill>
                    </a:lnL>
                    <a:lnR w="18720">
                      <a:solidFill>
                        <a:srgbClr val="FFFFFF"/>
                      </a:solidFill>
                    </a:lnR>
                    <a:lnT w="18720">
                      <a:solidFill>
                        <a:srgbClr val="FFFFFF"/>
                      </a:solidFill>
                    </a:lnT>
                    <a:lnB w="1872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4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4336</a:t>
                      </a:r>
                      <a:endParaRPr lang="pt-BR" sz="14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 anchor="ctr">
                    <a:lnL w="18720">
                      <a:solidFill>
                        <a:srgbClr val="FFFFFF"/>
                      </a:solidFill>
                    </a:lnL>
                    <a:lnR w="18720">
                      <a:solidFill>
                        <a:srgbClr val="FFFFFF"/>
                      </a:solidFill>
                    </a:lnR>
                    <a:lnT w="18720">
                      <a:solidFill>
                        <a:srgbClr val="FFFFFF"/>
                      </a:solidFill>
                    </a:lnT>
                    <a:lnB w="1872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  <a:tabLst>
                          <a:tab pos="0" algn="l"/>
                        </a:tabLst>
                      </a:pPr>
                      <a:r>
                        <a:rPr lang="pt-BR" sz="14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3939</a:t>
                      </a:r>
                      <a:endParaRPr lang="pt-BR" dirty="0"/>
                    </a:p>
                  </a:txBody>
                  <a:tcPr marL="91080" marR="91080" anchor="ctr">
                    <a:lnL w="18720">
                      <a:solidFill>
                        <a:srgbClr val="FFFFFF"/>
                      </a:solidFill>
                    </a:lnL>
                    <a:lnR w="18720">
                      <a:solidFill>
                        <a:srgbClr val="FFFFFF"/>
                      </a:solidFill>
                    </a:lnR>
                    <a:lnT w="18720">
                      <a:solidFill>
                        <a:srgbClr val="FFFFFF"/>
                      </a:solidFill>
                    </a:lnT>
                    <a:lnB w="1872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4408</a:t>
                      </a:r>
                    </a:p>
                  </a:txBody>
                  <a:tcPr marL="91080" marR="91080" anchor="ctr">
                    <a:lnL w="18720">
                      <a:solidFill>
                        <a:srgbClr val="FFFFFF"/>
                      </a:solidFill>
                    </a:lnL>
                    <a:lnR w="18720">
                      <a:solidFill>
                        <a:srgbClr val="FFFFFF"/>
                      </a:solidFill>
                    </a:lnR>
                    <a:lnT w="18720">
                      <a:solidFill>
                        <a:srgbClr val="FFFFFF"/>
                      </a:solidFill>
                    </a:lnT>
                    <a:lnB w="1872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484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</a:pPr>
                      <a:r>
                        <a:rPr lang="pt-BR" sz="1400" b="1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Atendimento </a:t>
                      </a:r>
                      <a:r>
                        <a:rPr lang="pt-BR" sz="1400" b="1" strike="noStrike" spc="-1" dirty="0" err="1">
                          <a:solidFill>
                            <a:srgbClr val="000000"/>
                          </a:solidFill>
                          <a:latin typeface="Calibri"/>
                        </a:rPr>
                        <a:t>On</a:t>
                      </a:r>
                      <a:r>
                        <a:rPr lang="pt-BR" sz="1400" b="1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lang="pt-BR" sz="1400" b="1" strike="noStrike" spc="-1" dirty="0" err="1">
                          <a:solidFill>
                            <a:srgbClr val="000000"/>
                          </a:solidFill>
                          <a:latin typeface="Calibri"/>
                        </a:rPr>
                        <a:t>line</a:t>
                      </a:r>
                      <a:r>
                        <a:rPr lang="pt-BR" sz="1400" b="1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lang="pt-BR" dirty="0"/>
                    </a:p>
                  </a:txBody>
                  <a:tcPr marL="9360" marR="9360" anchor="ctr">
                    <a:lnL w="18720">
                      <a:solidFill>
                        <a:srgbClr val="FFFFFF"/>
                      </a:solidFill>
                    </a:lnL>
                    <a:lnR w="18720">
                      <a:solidFill>
                        <a:srgbClr val="FFFFFF"/>
                      </a:solidFill>
                    </a:lnR>
                    <a:lnT w="18720">
                      <a:solidFill>
                        <a:srgbClr val="FFFFFF"/>
                      </a:solidFill>
                    </a:lnT>
                    <a:lnB w="1872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400" b="1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080" marR="91080" anchor="ctr">
                    <a:lnL w="18720">
                      <a:solidFill>
                        <a:srgbClr val="FFFFFF"/>
                      </a:solidFill>
                    </a:lnL>
                    <a:lnR w="18720">
                      <a:solidFill>
                        <a:srgbClr val="FFFFFF"/>
                      </a:solidFill>
                    </a:lnR>
                    <a:lnT w="18720">
                      <a:solidFill>
                        <a:srgbClr val="FFFFFF"/>
                      </a:solidFill>
                    </a:lnT>
                    <a:lnB w="1872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400" b="1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120</a:t>
                      </a:r>
                    </a:p>
                  </a:txBody>
                  <a:tcPr marL="91080" marR="91080" anchor="ctr">
                    <a:lnL w="18720">
                      <a:solidFill>
                        <a:srgbClr val="FFFFFF"/>
                      </a:solidFill>
                    </a:lnL>
                    <a:lnR w="18720">
                      <a:solidFill>
                        <a:srgbClr val="FFFFFF"/>
                      </a:solidFill>
                    </a:lnR>
                    <a:lnT w="18720">
                      <a:solidFill>
                        <a:srgbClr val="FFFFFF"/>
                      </a:solidFill>
                    </a:lnT>
                    <a:lnB w="1872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  <a:tabLst>
                          <a:tab pos="0" algn="l"/>
                        </a:tabLst>
                      </a:pPr>
                      <a:r>
                        <a:rPr lang="pt-BR" sz="1400" b="1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562</a:t>
                      </a:r>
                    </a:p>
                  </a:txBody>
                  <a:tcPr marL="91080" marR="91080" anchor="ctr">
                    <a:lnL w="18720">
                      <a:solidFill>
                        <a:srgbClr val="FFFFFF"/>
                      </a:solidFill>
                    </a:lnL>
                    <a:lnR w="18720">
                      <a:solidFill>
                        <a:srgbClr val="FFFFFF"/>
                      </a:solidFill>
                    </a:lnR>
                    <a:lnT w="18720">
                      <a:solidFill>
                        <a:srgbClr val="FFFFFF"/>
                      </a:solidFill>
                    </a:lnT>
                    <a:lnB w="1872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BR" sz="1400" b="1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515</a:t>
                      </a:r>
                    </a:p>
                  </a:txBody>
                  <a:tcPr marL="91080" marR="91080" anchor="ctr">
                    <a:lnL w="18720">
                      <a:solidFill>
                        <a:srgbClr val="FFFFFF"/>
                      </a:solidFill>
                    </a:lnL>
                    <a:lnR w="18720">
                      <a:solidFill>
                        <a:srgbClr val="FFFFFF"/>
                      </a:solidFill>
                    </a:lnR>
                    <a:lnT w="18720">
                      <a:solidFill>
                        <a:srgbClr val="FFFFFF"/>
                      </a:solidFill>
                    </a:lnT>
                    <a:lnB w="1872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5347676"/>
                  </a:ext>
                </a:extLst>
              </a:tr>
              <a:tr h="244840">
                <a:tc vMerge="1">
                  <a:txBody>
                    <a:bodyPr/>
                    <a:lstStyle/>
                    <a:p>
                      <a:endParaRPr lang="pt-BR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</a:pPr>
                      <a:r>
                        <a:rPr lang="pt-BR" sz="1400" b="1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Cirurgia</a:t>
                      </a:r>
                      <a:endParaRPr lang="pt-BR" sz="14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8720">
                      <a:solidFill>
                        <a:srgbClr val="FFFFFF"/>
                      </a:solidFill>
                    </a:lnL>
                    <a:lnR w="18720">
                      <a:solidFill>
                        <a:srgbClr val="FFFFFF"/>
                      </a:solidFill>
                    </a:lnR>
                    <a:lnT w="18720">
                      <a:solidFill>
                        <a:srgbClr val="FFFFFF"/>
                      </a:solidFill>
                    </a:lnT>
                    <a:lnB w="1872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4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715</a:t>
                      </a:r>
                      <a:endParaRPr lang="pt-BR" sz="14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 anchor="ctr">
                    <a:lnL w="18720">
                      <a:solidFill>
                        <a:srgbClr val="FFFFFF"/>
                      </a:solidFill>
                    </a:lnL>
                    <a:lnR w="18720">
                      <a:solidFill>
                        <a:srgbClr val="FFFFFF"/>
                      </a:solidFill>
                    </a:lnR>
                    <a:lnT w="18720">
                      <a:solidFill>
                        <a:srgbClr val="FFFFFF"/>
                      </a:solidFill>
                    </a:lnT>
                    <a:lnB w="1872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4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528</a:t>
                      </a:r>
                      <a:endParaRPr lang="pt-BR" sz="14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 anchor="ctr">
                    <a:lnL w="18720">
                      <a:solidFill>
                        <a:srgbClr val="FFFFFF"/>
                      </a:solidFill>
                    </a:lnL>
                    <a:lnR w="18720">
                      <a:solidFill>
                        <a:srgbClr val="FFFFFF"/>
                      </a:solidFill>
                    </a:lnR>
                    <a:lnT w="18720">
                      <a:solidFill>
                        <a:srgbClr val="FFFFFF"/>
                      </a:solidFill>
                    </a:lnT>
                    <a:lnB w="1872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  <a:tabLst>
                          <a:tab pos="0" algn="l"/>
                        </a:tabLst>
                      </a:pPr>
                      <a:r>
                        <a:rPr lang="pt-BR" sz="14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825</a:t>
                      </a:r>
                      <a:endParaRPr lang="pt-BR" dirty="0"/>
                    </a:p>
                  </a:txBody>
                  <a:tcPr marL="91080" marR="91080" anchor="ctr">
                    <a:lnL w="18720">
                      <a:solidFill>
                        <a:srgbClr val="FFFFFF"/>
                      </a:solidFill>
                    </a:lnL>
                    <a:lnR w="18720">
                      <a:solidFill>
                        <a:srgbClr val="FFFFFF"/>
                      </a:solidFill>
                    </a:lnR>
                    <a:lnT w="18720">
                      <a:solidFill>
                        <a:srgbClr val="FFFFFF"/>
                      </a:solidFill>
                    </a:lnT>
                    <a:lnB w="1872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855</a:t>
                      </a:r>
                    </a:p>
                  </a:txBody>
                  <a:tcPr marL="91080" marR="91080" anchor="ctr">
                    <a:lnL w="18720">
                      <a:solidFill>
                        <a:srgbClr val="FFFFFF"/>
                      </a:solidFill>
                    </a:lnL>
                    <a:lnR w="18720">
                      <a:solidFill>
                        <a:srgbClr val="FFFFFF"/>
                      </a:solidFill>
                    </a:lnR>
                    <a:lnT w="18720">
                      <a:solidFill>
                        <a:srgbClr val="FFFFFF"/>
                      </a:solidFill>
                    </a:lnT>
                    <a:lnB w="1872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4840">
                <a:tc vMerge="1">
                  <a:txBody>
                    <a:bodyPr/>
                    <a:lstStyle/>
                    <a:p>
                      <a:endParaRPr lang="pt-BR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4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Pediatria</a:t>
                      </a:r>
                      <a:endParaRPr lang="pt-BR" sz="14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8720">
                      <a:solidFill>
                        <a:srgbClr val="FFFFFF"/>
                      </a:solidFill>
                    </a:lnL>
                    <a:lnR w="18720">
                      <a:solidFill>
                        <a:srgbClr val="FFFFFF"/>
                      </a:solidFill>
                    </a:lnR>
                    <a:lnT w="18720">
                      <a:solidFill>
                        <a:srgbClr val="FFFFFF"/>
                      </a:solidFill>
                    </a:lnT>
                    <a:lnB w="1872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4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1124</a:t>
                      </a:r>
                      <a:endParaRPr lang="pt-BR" sz="14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 anchor="ctr">
                    <a:lnL w="18720">
                      <a:solidFill>
                        <a:srgbClr val="FFFFFF"/>
                      </a:solidFill>
                    </a:lnL>
                    <a:lnR w="18720">
                      <a:solidFill>
                        <a:srgbClr val="FFFFFF"/>
                      </a:solidFill>
                    </a:lnR>
                    <a:lnT w="18720">
                      <a:solidFill>
                        <a:srgbClr val="FFFFFF"/>
                      </a:solidFill>
                    </a:lnT>
                    <a:lnB w="1872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4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990</a:t>
                      </a:r>
                      <a:endParaRPr lang="pt-BR" sz="14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 anchor="ctr">
                    <a:lnL w="18720">
                      <a:solidFill>
                        <a:srgbClr val="FFFFFF"/>
                      </a:solidFill>
                    </a:lnL>
                    <a:lnR w="18720">
                      <a:solidFill>
                        <a:srgbClr val="FFFFFF"/>
                      </a:solidFill>
                    </a:lnR>
                    <a:lnT w="18720">
                      <a:solidFill>
                        <a:srgbClr val="FFFFFF"/>
                      </a:solidFill>
                    </a:lnT>
                    <a:lnB w="1872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  <a:tabLst>
                          <a:tab pos="0" algn="l"/>
                        </a:tabLst>
                      </a:pPr>
                      <a:r>
                        <a:rPr lang="pt-BR" sz="14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1229</a:t>
                      </a:r>
                      <a:endParaRPr lang="pt-BR" dirty="0"/>
                    </a:p>
                  </a:txBody>
                  <a:tcPr marL="91080" marR="91080" anchor="ctr">
                    <a:lnL w="18720">
                      <a:solidFill>
                        <a:srgbClr val="FFFFFF"/>
                      </a:solidFill>
                    </a:lnL>
                    <a:lnR w="18720">
                      <a:solidFill>
                        <a:srgbClr val="FFFFFF"/>
                      </a:solidFill>
                    </a:lnR>
                    <a:lnT w="18720">
                      <a:solidFill>
                        <a:srgbClr val="FFFFFF"/>
                      </a:solidFill>
                    </a:lnT>
                    <a:lnB w="1872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1191</a:t>
                      </a:r>
                    </a:p>
                  </a:txBody>
                  <a:tcPr marL="91080" marR="91080" anchor="ctr">
                    <a:lnL w="18720">
                      <a:solidFill>
                        <a:srgbClr val="FFFFFF"/>
                      </a:solidFill>
                    </a:lnL>
                    <a:lnR w="18720">
                      <a:solidFill>
                        <a:srgbClr val="FFFFFF"/>
                      </a:solidFill>
                    </a:lnR>
                    <a:lnT w="18720">
                      <a:solidFill>
                        <a:srgbClr val="FFFFFF"/>
                      </a:solidFill>
                    </a:lnT>
                    <a:lnB w="1872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4840">
                <a:tc vMerge="1">
                  <a:txBody>
                    <a:bodyPr/>
                    <a:lstStyle/>
                    <a:p>
                      <a:endParaRPr lang="pt-BR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400" b="1" strike="noStrike" spc="-1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</a:rPr>
                        <a:t>Total de Atendimentos</a:t>
                      </a:r>
                      <a:endParaRPr lang="pt-BR" sz="14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8720">
                      <a:solidFill>
                        <a:srgbClr val="FFFFFF"/>
                      </a:solidFill>
                    </a:lnL>
                    <a:lnR w="18720">
                      <a:solidFill>
                        <a:srgbClr val="FFFFFF"/>
                      </a:solidFill>
                    </a:lnR>
                    <a:lnT w="18720">
                      <a:solidFill>
                        <a:srgbClr val="FFFFFF"/>
                      </a:solidFill>
                    </a:lnT>
                    <a:lnB w="1872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400" b="1" strike="noStrike" spc="-1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</a:rPr>
                        <a:t>6039</a:t>
                      </a:r>
                      <a:endParaRPr lang="pt-BR" sz="14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 anchor="ctr">
                    <a:lnL w="18720">
                      <a:solidFill>
                        <a:srgbClr val="FFFFFF"/>
                      </a:solidFill>
                    </a:lnL>
                    <a:lnR w="18720">
                      <a:solidFill>
                        <a:srgbClr val="FFFFFF"/>
                      </a:solidFill>
                    </a:lnR>
                    <a:lnT w="18720">
                      <a:solidFill>
                        <a:srgbClr val="FFFFFF"/>
                      </a:solidFill>
                    </a:lnT>
                    <a:lnB w="1872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400" b="1" strike="noStrike" spc="-1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</a:rPr>
                        <a:t>5974</a:t>
                      </a:r>
                      <a:endParaRPr lang="pt-BR" sz="14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 anchor="ctr">
                    <a:lnL w="18720">
                      <a:solidFill>
                        <a:srgbClr val="FFFFFF"/>
                      </a:solidFill>
                    </a:lnL>
                    <a:lnR w="18720">
                      <a:solidFill>
                        <a:srgbClr val="FFFFFF"/>
                      </a:solidFill>
                    </a:lnR>
                    <a:lnT w="18720">
                      <a:solidFill>
                        <a:srgbClr val="FFFFFF"/>
                      </a:solidFill>
                    </a:lnT>
                    <a:lnB w="1872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  <a:tabLst>
                          <a:tab pos="0" algn="l"/>
                        </a:tabLst>
                      </a:pPr>
                      <a:r>
                        <a:rPr lang="pt-BR" sz="1400" b="1" strike="noStrike" spc="-1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</a:rPr>
                        <a:t>6555</a:t>
                      </a:r>
                    </a:p>
                  </a:txBody>
                  <a:tcPr marL="91080" marR="91080" anchor="ctr">
                    <a:lnL w="18720">
                      <a:solidFill>
                        <a:srgbClr val="FFFFFF"/>
                      </a:solidFill>
                    </a:lnL>
                    <a:lnR w="18720">
                      <a:solidFill>
                        <a:srgbClr val="FFFFFF"/>
                      </a:solidFill>
                    </a:lnR>
                    <a:lnT w="18720">
                      <a:solidFill>
                        <a:srgbClr val="FFFFFF"/>
                      </a:solidFill>
                    </a:lnT>
                    <a:lnB w="1872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 strike="noStrike" spc="-1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</a:rPr>
                        <a:t>6969</a:t>
                      </a:r>
                    </a:p>
                  </a:txBody>
                  <a:tcPr marL="91080" marR="91080" anchor="ctr">
                    <a:lnL w="18720">
                      <a:solidFill>
                        <a:srgbClr val="FFFFFF"/>
                      </a:solidFill>
                    </a:lnL>
                    <a:lnR w="18720">
                      <a:solidFill>
                        <a:srgbClr val="FFFFFF"/>
                      </a:solidFill>
                    </a:lnR>
                    <a:lnT w="18720">
                      <a:solidFill>
                        <a:srgbClr val="FFFFFF"/>
                      </a:solidFill>
                    </a:lnT>
                    <a:lnB w="1872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46000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6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UPA</a:t>
                      </a:r>
                      <a:endParaRPr lang="pt-BR" sz="16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6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  Petrolândia </a:t>
                      </a:r>
                      <a:endParaRPr lang="pt-BR" sz="16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 anchor="ctr">
                    <a:lnL w="12240">
                      <a:solidFill>
                        <a:srgbClr val="FFFFFF"/>
                      </a:solidFill>
                    </a:lnL>
                    <a:lnR w="1872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pt-BR" sz="1400" b="1" strike="noStrike" spc="-1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</a:rPr>
                        <a:t>Clínica Médica</a:t>
                      </a:r>
                      <a:endParaRPr lang="pt-BR" sz="1400" b="0" strike="noStrike" spc="-1" dirty="0">
                        <a:solidFill>
                          <a:schemeClr val="tx1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8720">
                      <a:solidFill>
                        <a:srgbClr val="FFFFFF"/>
                      </a:solidFill>
                    </a:lnL>
                    <a:lnR w="18720">
                      <a:solidFill>
                        <a:srgbClr val="FFFFFF"/>
                      </a:solidFill>
                    </a:lnR>
                    <a:lnT w="18720">
                      <a:solidFill>
                        <a:srgbClr val="FFFFFF"/>
                      </a:solidFill>
                    </a:lnT>
                    <a:lnB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400" b="1" strike="noStrike" spc="-1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</a:rPr>
                        <a:t>4140</a:t>
                      </a:r>
                      <a:endParaRPr lang="pt-BR" sz="14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 anchor="ctr">
                    <a:lnL w="18720">
                      <a:solidFill>
                        <a:srgbClr val="FFFFFF"/>
                      </a:solidFill>
                    </a:lnL>
                    <a:lnR w="18720">
                      <a:solidFill>
                        <a:srgbClr val="FFFFFF"/>
                      </a:solidFill>
                    </a:lnR>
                    <a:lnT w="18720">
                      <a:solidFill>
                        <a:srgbClr val="FFFFFF"/>
                      </a:solidFill>
                    </a:lnT>
                    <a:lnB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400" b="1" strike="noStrike" spc="-1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</a:rPr>
                        <a:t>4346</a:t>
                      </a:r>
                      <a:endParaRPr lang="pt-BR" sz="14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 anchor="ctr">
                    <a:lnL w="18720">
                      <a:solidFill>
                        <a:srgbClr val="FFFFFF"/>
                      </a:solidFill>
                    </a:lnL>
                    <a:lnR w="18720">
                      <a:solidFill>
                        <a:srgbClr val="FFFFFF"/>
                      </a:solidFill>
                    </a:lnR>
                    <a:lnT w="18720">
                      <a:solidFill>
                        <a:srgbClr val="FFFFFF"/>
                      </a:solidFill>
                    </a:lnT>
                    <a:lnB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  <a:tabLst>
                          <a:tab pos="0" algn="l"/>
                        </a:tabLst>
                      </a:pPr>
                      <a:r>
                        <a:rPr lang="pt-BR" sz="1400" b="1" strike="noStrike" spc="-1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</a:rPr>
                        <a:t>4445</a:t>
                      </a:r>
                      <a:endParaRPr lang="pt-BR" dirty="0"/>
                    </a:p>
                  </a:txBody>
                  <a:tcPr marL="91080" marR="91080" anchor="ctr">
                    <a:lnL w="18720">
                      <a:solidFill>
                        <a:srgbClr val="FFFFFF"/>
                      </a:solidFill>
                    </a:lnL>
                    <a:lnR w="18720">
                      <a:solidFill>
                        <a:srgbClr val="FFFFFF"/>
                      </a:solidFill>
                    </a:lnR>
                    <a:lnT w="18720">
                      <a:solidFill>
                        <a:srgbClr val="FFFFFF"/>
                      </a:solidFill>
                    </a:lnT>
                    <a:lnB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 strike="noStrike" spc="-1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</a:rPr>
                        <a:t>5232</a:t>
                      </a:r>
                    </a:p>
                  </a:txBody>
                  <a:tcPr marL="91080" marR="91080" anchor="ctr">
                    <a:lnL w="18720">
                      <a:solidFill>
                        <a:srgbClr val="FFFFFF"/>
                      </a:solidFill>
                    </a:lnL>
                    <a:lnR w="18720">
                      <a:solidFill>
                        <a:srgbClr val="FFFFFF"/>
                      </a:solidFill>
                    </a:lnR>
                    <a:lnT w="18720">
                      <a:solidFill>
                        <a:srgbClr val="FFFFFF"/>
                      </a:solidFill>
                    </a:lnT>
                    <a:lnB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7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67098">
                <a:tc rowSpan="5"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</a:pPr>
                      <a:r>
                        <a:rPr lang="pt-BR" sz="16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UPA Industrial</a:t>
                      </a:r>
                    </a:p>
                  </a:txBody>
                  <a:tcPr marL="91080" marR="91080" anchor="ctr">
                    <a:lnL w="12240">
                      <a:solidFill>
                        <a:srgbClr val="FFFFFF"/>
                      </a:solidFill>
                    </a:lnL>
                    <a:lnR w="1872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4999"/>
                        </a:lnSpc>
                        <a:buNone/>
                      </a:pPr>
                      <a:r>
                        <a:rPr lang="pt-BR" sz="1400" b="1" strike="noStrike" spc="-1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</a:rPr>
                        <a:t>Clínica Médica</a:t>
                      </a:r>
                    </a:p>
                  </a:txBody>
                  <a:tcPr marL="9360" marR="9360" anchor="ctr">
                    <a:lnL w="18720">
                      <a:solidFill>
                        <a:srgbClr val="FFFFFF"/>
                      </a:solidFill>
                    </a:lnL>
                    <a:lnR w="18720">
                      <a:solidFill>
                        <a:srgbClr val="FFFFFF"/>
                      </a:solidFill>
                    </a:lnR>
                    <a:lnT w="18720">
                      <a:solidFill>
                        <a:srgbClr val="FFFFFF"/>
                      </a:solidFill>
                    </a:lnT>
                    <a:lnB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400" b="1" strike="noStrike" spc="-1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</a:rPr>
                        <a:t>-</a:t>
                      </a:r>
                    </a:p>
                  </a:txBody>
                  <a:tcPr marL="91080" marR="91080" anchor="ctr">
                    <a:lnL w="18720">
                      <a:solidFill>
                        <a:srgbClr val="FFFFFF"/>
                      </a:solidFill>
                    </a:lnL>
                    <a:lnR w="18720">
                      <a:solidFill>
                        <a:srgbClr val="FFFFFF"/>
                      </a:solidFill>
                    </a:lnR>
                    <a:lnT w="18720">
                      <a:solidFill>
                        <a:srgbClr val="FFFFFF"/>
                      </a:solidFill>
                    </a:lnT>
                    <a:lnB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400" b="1" strike="noStrike" spc="-1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</a:rPr>
                        <a:t>-</a:t>
                      </a:r>
                    </a:p>
                  </a:txBody>
                  <a:tcPr marL="91080" marR="91080" anchor="ctr">
                    <a:lnL w="18720">
                      <a:solidFill>
                        <a:srgbClr val="FFFFFF"/>
                      </a:solidFill>
                    </a:lnL>
                    <a:lnR w="18720">
                      <a:solidFill>
                        <a:srgbClr val="FFFFFF"/>
                      </a:solidFill>
                    </a:lnR>
                    <a:lnT w="18720">
                      <a:solidFill>
                        <a:srgbClr val="FFFFFF"/>
                      </a:solidFill>
                    </a:lnT>
                    <a:lnB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  <a:tabLst>
                          <a:tab pos="0" algn="l"/>
                        </a:tabLst>
                      </a:pPr>
                      <a:r>
                        <a:rPr lang="pt-BR" sz="1400" b="1" strike="noStrike" spc="-1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</a:rPr>
                        <a:t>65</a:t>
                      </a:r>
                    </a:p>
                  </a:txBody>
                  <a:tcPr marL="91080" marR="91080" anchor="ctr">
                    <a:lnL w="18720">
                      <a:solidFill>
                        <a:srgbClr val="FFFFFF"/>
                      </a:solidFill>
                    </a:lnL>
                    <a:lnR w="18720">
                      <a:solidFill>
                        <a:srgbClr val="FFFFFF"/>
                      </a:solidFill>
                    </a:lnR>
                    <a:lnT w="18720">
                      <a:solidFill>
                        <a:srgbClr val="FFFFFF"/>
                      </a:solidFill>
                    </a:lnT>
                    <a:lnB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BR" sz="1400" b="1" strike="noStrike" spc="-1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</a:rPr>
                        <a:t>83</a:t>
                      </a:r>
                    </a:p>
                  </a:txBody>
                  <a:tcPr marL="91080" marR="91080" anchor="ctr">
                    <a:lnL w="18720">
                      <a:solidFill>
                        <a:srgbClr val="FFFFFF"/>
                      </a:solidFill>
                    </a:lnL>
                    <a:lnR w="18720">
                      <a:solidFill>
                        <a:srgbClr val="FFFFFF"/>
                      </a:solidFill>
                    </a:lnR>
                    <a:lnT w="18720">
                      <a:solidFill>
                        <a:srgbClr val="FFFFFF"/>
                      </a:solidFill>
                    </a:lnT>
                    <a:lnB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7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2772765"/>
                  </a:ext>
                </a:extLst>
              </a:tr>
              <a:tr h="267098">
                <a:tc vMerge="1">
                  <a:txBody>
                    <a:bodyPr/>
                    <a:lstStyle/>
                    <a:p>
                      <a:pPr>
                        <a:tabLst>
                          <a:tab pos="0" algn="l"/>
                        </a:tabLst>
                      </a:pPr>
                      <a:endParaRPr lang="pt-BR"/>
                    </a:p>
                  </a:txBody>
                  <a:tcPr marL="91080" marR="91080" anchor="ctr">
                    <a:lnL w="12240">
                      <a:solidFill>
                        <a:srgbClr val="FFFFFF"/>
                      </a:solidFill>
                    </a:lnL>
                    <a:lnR w="1872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4999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400" b="1" strike="noStrike" spc="-1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</a:rPr>
                        <a:t>Ortopedia</a:t>
                      </a:r>
                    </a:p>
                  </a:txBody>
                  <a:tcPr marL="9360" marR="9360" anchor="ctr">
                    <a:lnL w="18720">
                      <a:solidFill>
                        <a:srgbClr val="FFFFFF"/>
                      </a:solidFill>
                    </a:lnL>
                    <a:lnR w="18720">
                      <a:solidFill>
                        <a:srgbClr val="FFFFFF"/>
                      </a:solidFill>
                    </a:lnR>
                    <a:lnT w="18720">
                      <a:solidFill>
                        <a:srgbClr val="FFFFFF"/>
                      </a:solidFill>
                    </a:lnT>
                    <a:lnB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400" b="1" strike="noStrike" spc="-1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</a:rPr>
                        <a:t>-</a:t>
                      </a:r>
                    </a:p>
                  </a:txBody>
                  <a:tcPr marL="91080" marR="91080" anchor="ctr">
                    <a:lnL w="18720">
                      <a:solidFill>
                        <a:srgbClr val="FFFFFF"/>
                      </a:solidFill>
                    </a:lnL>
                    <a:lnR w="18720">
                      <a:solidFill>
                        <a:srgbClr val="FFFFFF"/>
                      </a:solidFill>
                    </a:lnR>
                    <a:lnT w="18720">
                      <a:solidFill>
                        <a:srgbClr val="FFFFFF"/>
                      </a:solidFill>
                    </a:lnT>
                    <a:lnB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400" b="1" strike="noStrike" spc="-1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</a:rPr>
                        <a:t>-</a:t>
                      </a:r>
                    </a:p>
                  </a:txBody>
                  <a:tcPr marL="91080" marR="91080" anchor="ctr">
                    <a:lnL w="18720">
                      <a:solidFill>
                        <a:srgbClr val="FFFFFF"/>
                      </a:solidFill>
                    </a:lnL>
                    <a:lnR w="18720">
                      <a:solidFill>
                        <a:srgbClr val="FFFFFF"/>
                      </a:solidFill>
                    </a:lnR>
                    <a:lnT w="18720">
                      <a:solidFill>
                        <a:srgbClr val="FFFFFF"/>
                      </a:solidFill>
                    </a:lnT>
                    <a:lnB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  <a:tabLst>
                          <a:tab pos="0" algn="l"/>
                        </a:tabLst>
                      </a:pPr>
                      <a:r>
                        <a:rPr lang="pt-BR" sz="1400" b="1" strike="noStrike" spc="-1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</a:rPr>
                        <a:t>805</a:t>
                      </a:r>
                    </a:p>
                  </a:txBody>
                  <a:tcPr marL="91080" marR="91080" anchor="ctr">
                    <a:lnL w="18720">
                      <a:solidFill>
                        <a:srgbClr val="FFFFFF"/>
                      </a:solidFill>
                    </a:lnL>
                    <a:lnR w="18720">
                      <a:solidFill>
                        <a:srgbClr val="FFFFFF"/>
                      </a:solidFill>
                    </a:lnR>
                    <a:lnT w="18720">
                      <a:solidFill>
                        <a:srgbClr val="FFFFFF"/>
                      </a:solidFill>
                    </a:lnT>
                    <a:lnB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BR" sz="1400" b="1" strike="noStrike" spc="-1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</a:rPr>
                        <a:t>2711</a:t>
                      </a:r>
                    </a:p>
                  </a:txBody>
                  <a:tcPr marL="91080" marR="91080" anchor="ctr">
                    <a:lnL w="18720">
                      <a:solidFill>
                        <a:srgbClr val="FFFFFF"/>
                      </a:solidFill>
                    </a:lnL>
                    <a:lnR w="18720">
                      <a:solidFill>
                        <a:srgbClr val="FFFFFF"/>
                      </a:solidFill>
                    </a:lnR>
                    <a:lnT w="18720">
                      <a:solidFill>
                        <a:srgbClr val="FFFFFF"/>
                      </a:solidFill>
                    </a:lnT>
                    <a:lnB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7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5783099"/>
                  </a:ext>
                </a:extLst>
              </a:tr>
              <a:tr h="267098">
                <a:tc vMerge="1">
                  <a:txBody>
                    <a:bodyPr/>
                    <a:lstStyle/>
                    <a:p>
                      <a:pPr>
                        <a:tabLst>
                          <a:tab pos="0" algn="l"/>
                        </a:tabLst>
                      </a:pPr>
                      <a:endParaRPr lang="pt-BR"/>
                    </a:p>
                  </a:txBody>
                  <a:tcPr marL="91080" marR="91080" anchor="ctr">
                    <a:lnL w="12240">
                      <a:solidFill>
                        <a:srgbClr val="FFFFFF"/>
                      </a:solidFill>
                    </a:lnL>
                    <a:lnR w="1872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4999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400" b="1" strike="noStrike" spc="-1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</a:rPr>
                        <a:t>Cirurgia</a:t>
                      </a:r>
                    </a:p>
                  </a:txBody>
                  <a:tcPr marL="9360" marR="9360" anchor="ctr">
                    <a:lnL w="18720">
                      <a:solidFill>
                        <a:srgbClr val="FFFFFF"/>
                      </a:solidFill>
                    </a:lnL>
                    <a:lnR w="18720">
                      <a:solidFill>
                        <a:srgbClr val="FFFFFF"/>
                      </a:solidFill>
                    </a:lnR>
                    <a:lnT w="18720">
                      <a:solidFill>
                        <a:srgbClr val="FFFFFF"/>
                      </a:solidFill>
                    </a:lnT>
                    <a:lnB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400" b="1" strike="noStrike" spc="-1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</a:rPr>
                        <a:t>-</a:t>
                      </a:r>
                    </a:p>
                  </a:txBody>
                  <a:tcPr marL="91080" marR="91080" anchor="ctr">
                    <a:lnL w="18720">
                      <a:solidFill>
                        <a:srgbClr val="FFFFFF"/>
                      </a:solidFill>
                    </a:lnL>
                    <a:lnR w="18720">
                      <a:solidFill>
                        <a:srgbClr val="FFFFFF"/>
                      </a:solidFill>
                    </a:lnR>
                    <a:lnT w="18720">
                      <a:solidFill>
                        <a:srgbClr val="FFFFFF"/>
                      </a:solidFill>
                    </a:lnT>
                    <a:lnB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400" b="1" strike="noStrike" spc="-1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</a:rPr>
                        <a:t>-</a:t>
                      </a:r>
                    </a:p>
                  </a:txBody>
                  <a:tcPr marL="91080" marR="91080" anchor="ctr">
                    <a:lnL w="18720">
                      <a:solidFill>
                        <a:srgbClr val="FFFFFF"/>
                      </a:solidFill>
                    </a:lnL>
                    <a:lnR w="18720">
                      <a:solidFill>
                        <a:srgbClr val="FFFFFF"/>
                      </a:solidFill>
                    </a:lnR>
                    <a:lnT w="18720">
                      <a:solidFill>
                        <a:srgbClr val="FFFFFF"/>
                      </a:solidFill>
                    </a:lnT>
                    <a:lnB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  <a:tabLst>
                          <a:tab pos="0" algn="l"/>
                        </a:tabLst>
                      </a:pPr>
                      <a:r>
                        <a:rPr lang="pt-BR" sz="1400" b="1" strike="noStrike" spc="-1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</a:rPr>
                        <a:t>199</a:t>
                      </a:r>
                    </a:p>
                  </a:txBody>
                  <a:tcPr marL="91080" marR="91080" anchor="ctr">
                    <a:lnL w="18720">
                      <a:solidFill>
                        <a:srgbClr val="FFFFFF"/>
                      </a:solidFill>
                    </a:lnL>
                    <a:lnR w="18720">
                      <a:solidFill>
                        <a:srgbClr val="FFFFFF"/>
                      </a:solidFill>
                    </a:lnR>
                    <a:lnT w="18720">
                      <a:solidFill>
                        <a:srgbClr val="FFFFFF"/>
                      </a:solidFill>
                    </a:lnT>
                    <a:lnB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BR" sz="1400" b="1" strike="noStrike" spc="-1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</a:rPr>
                        <a:t>620</a:t>
                      </a:r>
                    </a:p>
                  </a:txBody>
                  <a:tcPr marL="91080" marR="91080" anchor="ctr">
                    <a:lnL w="18720">
                      <a:solidFill>
                        <a:srgbClr val="FFFFFF"/>
                      </a:solidFill>
                    </a:lnL>
                    <a:lnR w="18720">
                      <a:solidFill>
                        <a:srgbClr val="FFFFFF"/>
                      </a:solidFill>
                    </a:lnR>
                    <a:lnT w="18720">
                      <a:solidFill>
                        <a:srgbClr val="FFFFFF"/>
                      </a:solidFill>
                    </a:lnT>
                    <a:lnB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7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2776476"/>
                  </a:ext>
                </a:extLst>
              </a:tr>
              <a:tr h="267098">
                <a:tc vMerge="1">
                  <a:txBody>
                    <a:bodyPr/>
                    <a:lstStyle/>
                    <a:p>
                      <a:pPr>
                        <a:tabLst>
                          <a:tab pos="0" algn="l"/>
                        </a:tabLst>
                      </a:pPr>
                      <a:endParaRPr lang="pt-BR"/>
                    </a:p>
                  </a:txBody>
                  <a:tcPr marL="91080" marR="91080" anchor="ctr">
                    <a:lnL w="12240">
                      <a:solidFill>
                        <a:srgbClr val="FFFFFF"/>
                      </a:solidFill>
                    </a:lnL>
                    <a:lnR w="1872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4999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400" b="1" strike="noStrike" spc="-1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</a:rPr>
                        <a:t>Pediatria</a:t>
                      </a:r>
                    </a:p>
                  </a:txBody>
                  <a:tcPr marL="9360" marR="9360" anchor="ctr">
                    <a:lnL w="18720">
                      <a:solidFill>
                        <a:srgbClr val="FFFFFF"/>
                      </a:solidFill>
                    </a:lnL>
                    <a:lnR w="18720">
                      <a:solidFill>
                        <a:srgbClr val="FFFFFF"/>
                      </a:solidFill>
                    </a:lnR>
                    <a:lnT w="18720">
                      <a:solidFill>
                        <a:srgbClr val="FFFFFF"/>
                      </a:solidFill>
                    </a:lnT>
                    <a:lnB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400" b="1" strike="noStrike" spc="-1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</a:rPr>
                        <a:t>-</a:t>
                      </a:r>
                    </a:p>
                  </a:txBody>
                  <a:tcPr marL="91080" marR="91080" anchor="ctr">
                    <a:lnL w="18720">
                      <a:solidFill>
                        <a:srgbClr val="FFFFFF"/>
                      </a:solidFill>
                    </a:lnL>
                    <a:lnR w="18720">
                      <a:solidFill>
                        <a:srgbClr val="FFFFFF"/>
                      </a:solidFill>
                    </a:lnR>
                    <a:lnT w="18720">
                      <a:solidFill>
                        <a:srgbClr val="FFFFFF"/>
                      </a:solidFill>
                    </a:lnT>
                    <a:lnB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400" b="1" strike="noStrike" spc="-1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</a:rPr>
                        <a:t>-</a:t>
                      </a:r>
                    </a:p>
                  </a:txBody>
                  <a:tcPr marL="91080" marR="91080" anchor="ctr">
                    <a:lnL w="18720">
                      <a:solidFill>
                        <a:srgbClr val="FFFFFF"/>
                      </a:solidFill>
                    </a:lnL>
                    <a:lnR w="18720">
                      <a:solidFill>
                        <a:srgbClr val="FFFFFF"/>
                      </a:solidFill>
                    </a:lnR>
                    <a:lnT w="18720">
                      <a:solidFill>
                        <a:srgbClr val="FFFFFF"/>
                      </a:solidFill>
                    </a:lnT>
                    <a:lnB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  <a:tabLst>
                          <a:tab pos="0" algn="l"/>
                        </a:tabLst>
                      </a:pPr>
                      <a:r>
                        <a:rPr lang="pt-BR" sz="1400" b="1" strike="noStrike" spc="-1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</a:rPr>
                        <a:t>741</a:t>
                      </a:r>
                    </a:p>
                  </a:txBody>
                  <a:tcPr marL="91080" marR="91080" anchor="ctr">
                    <a:lnL w="18720">
                      <a:solidFill>
                        <a:srgbClr val="FFFFFF"/>
                      </a:solidFill>
                    </a:lnL>
                    <a:lnR w="18720">
                      <a:solidFill>
                        <a:srgbClr val="FFFFFF"/>
                      </a:solidFill>
                    </a:lnR>
                    <a:lnT w="18720">
                      <a:solidFill>
                        <a:srgbClr val="FFFFFF"/>
                      </a:solidFill>
                    </a:lnT>
                    <a:lnB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BR" sz="1400" b="1" strike="noStrike" spc="-1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</a:rPr>
                        <a:t>2662</a:t>
                      </a:r>
                    </a:p>
                  </a:txBody>
                  <a:tcPr marL="91080" marR="91080" anchor="ctr">
                    <a:lnL w="18720">
                      <a:solidFill>
                        <a:srgbClr val="FFFFFF"/>
                      </a:solidFill>
                    </a:lnL>
                    <a:lnR w="18720">
                      <a:solidFill>
                        <a:srgbClr val="FFFFFF"/>
                      </a:solidFill>
                    </a:lnR>
                    <a:lnT w="18720">
                      <a:solidFill>
                        <a:srgbClr val="FFFFFF"/>
                      </a:solidFill>
                    </a:lnT>
                    <a:lnB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7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0255743"/>
                  </a:ext>
                </a:extLst>
              </a:tr>
              <a:tr h="267097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 marL="91080" marR="91080" anchor="ctr">
                    <a:lnL w="12240">
                      <a:solidFill>
                        <a:srgbClr val="FFFFFF"/>
                      </a:solidFill>
                    </a:lnL>
                    <a:lnR w="1872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4999"/>
                        </a:lnSpc>
                        <a:buNone/>
                      </a:pPr>
                      <a:r>
                        <a:rPr lang="pt-BR" sz="1400" b="1" strike="noStrike" spc="-1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</a:rPr>
                        <a:t>Total de Atendimentos</a:t>
                      </a:r>
                    </a:p>
                  </a:txBody>
                  <a:tcPr marL="9360" marR="9360" anchor="ctr">
                    <a:lnL w="18720">
                      <a:solidFill>
                        <a:srgbClr val="FFFFFF"/>
                      </a:solidFill>
                    </a:lnL>
                    <a:lnR w="18720">
                      <a:solidFill>
                        <a:srgbClr val="FFFFFF"/>
                      </a:solidFill>
                    </a:lnR>
                    <a:lnT w="18720">
                      <a:solidFill>
                        <a:srgbClr val="FFFFFF"/>
                      </a:solidFill>
                    </a:lnT>
                    <a:lnB w="1872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400" b="1" strike="noStrike" spc="-1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</a:rPr>
                        <a:t>-</a:t>
                      </a:r>
                    </a:p>
                  </a:txBody>
                  <a:tcPr marL="91080" marR="91080" anchor="ctr">
                    <a:lnL w="18720">
                      <a:solidFill>
                        <a:srgbClr val="FFFFFF"/>
                      </a:solidFill>
                    </a:lnL>
                    <a:lnR w="18720">
                      <a:solidFill>
                        <a:srgbClr val="FFFFFF"/>
                      </a:solidFill>
                    </a:lnR>
                    <a:lnT w="18720">
                      <a:solidFill>
                        <a:srgbClr val="FFFFFF"/>
                      </a:solidFill>
                    </a:lnT>
                    <a:lnB w="1872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400" b="1" strike="noStrike" spc="-1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</a:rPr>
                        <a:t>-</a:t>
                      </a:r>
                    </a:p>
                  </a:txBody>
                  <a:tcPr marL="91080" marR="91080" anchor="ctr">
                    <a:lnL w="18720">
                      <a:solidFill>
                        <a:srgbClr val="FFFFFF"/>
                      </a:solidFill>
                    </a:lnL>
                    <a:lnR w="18720">
                      <a:solidFill>
                        <a:srgbClr val="FFFFFF"/>
                      </a:solidFill>
                    </a:lnR>
                    <a:lnT w="18720">
                      <a:solidFill>
                        <a:srgbClr val="FFFFFF"/>
                      </a:solidFill>
                    </a:lnT>
                    <a:lnB w="1872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  <a:tabLst>
                          <a:tab pos="0" algn="l"/>
                        </a:tabLst>
                      </a:pPr>
                      <a:r>
                        <a:rPr lang="pt-BR" sz="1400" b="1" strike="noStrike" spc="-1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</a:rPr>
                        <a:t>1810</a:t>
                      </a:r>
                    </a:p>
                  </a:txBody>
                  <a:tcPr marL="91080" marR="91080" anchor="ctr">
                    <a:lnL w="18720">
                      <a:solidFill>
                        <a:srgbClr val="FFFFFF"/>
                      </a:solidFill>
                    </a:lnL>
                    <a:lnR w="18720">
                      <a:solidFill>
                        <a:srgbClr val="FFFFFF"/>
                      </a:solidFill>
                    </a:lnR>
                    <a:lnT w="18720">
                      <a:solidFill>
                        <a:srgbClr val="FFFFFF"/>
                      </a:solidFill>
                    </a:lnT>
                    <a:lnB w="1872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BR" sz="1400" b="1" strike="noStrike" spc="-1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</a:rPr>
                        <a:t>6076</a:t>
                      </a:r>
                    </a:p>
                  </a:txBody>
                  <a:tcPr marL="91080" marR="91080" anchor="ctr">
                    <a:lnL w="18720">
                      <a:solidFill>
                        <a:srgbClr val="FFFFFF"/>
                      </a:solidFill>
                    </a:lnL>
                    <a:lnR w="18720">
                      <a:solidFill>
                        <a:srgbClr val="FFFFFF"/>
                      </a:solidFill>
                    </a:lnR>
                    <a:lnT w="18720">
                      <a:solidFill>
                        <a:srgbClr val="FFFFFF"/>
                      </a:solidFill>
                    </a:lnT>
                    <a:lnB w="1872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062078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122;p5"/>
          <p:cNvPicPr/>
          <p:nvPr/>
        </p:nvPicPr>
        <p:blipFill>
          <a:blip r:embed="rId2"/>
          <a:srcRect r="65499"/>
          <a:stretch/>
        </p:blipFill>
        <p:spPr>
          <a:xfrm>
            <a:off x="0" y="0"/>
            <a:ext cx="3514320" cy="6857640"/>
          </a:xfrm>
          <a:prstGeom prst="rect">
            <a:avLst/>
          </a:prstGeom>
          <a:ln w="0">
            <a:noFill/>
          </a:ln>
        </p:spPr>
      </p:pic>
      <p:pic>
        <p:nvPicPr>
          <p:cNvPr id="204" name="Google Shape;123;p5"/>
          <p:cNvPicPr/>
          <p:nvPr/>
        </p:nvPicPr>
        <p:blipFill>
          <a:blip r:embed="rId3"/>
          <a:stretch/>
        </p:blipFill>
        <p:spPr>
          <a:xfrm>
            <a:off x="198360" y="5899320"/>
            <a:ext cx="1904760" cy="738000"/>
          </a:xfrm>
          <a:prstGeom prst="rect">
            <a:avLst/>
          </a:prstGeom>
          <a:ln w="0">
            <a:noFill/>
          </a:ln>
        </p:spPr>
      </p:pic>
      <p:sp>
        <p:nvSpPr>
          <p:cNvPr id="205" name="Google Shape;124;p5"/>
          <p:cNvSpPr/>
          <p:nvPr/>
        </p:nvSpPr>
        <p:spPr>
          <a:xfrm>
            <a:off x="430200" y="196920"/>
            <a:ext cx="8810280" cy="764640"/>
          </a:xfrm>
          <a:prstGeom prst="homePlate">
            <a:avLst>
              <a:gd name="adj" fmla="val 21213"/>
            </a:avLst>
          </a:prstGeom>
          <a:solidFill>
            <a:srgbClr val="B33259"/>
          </a:solidFill>
          <a:ln w="0">
            <a:noFill/>
          </a:ln>
          <a:effectLst>
            <a:outerShdw blurRad="63360" sx="102000" sy="102000">
              <a:srgbClr val="000000">
                <a:alpha val="3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br>
              <a:rPr sz="2000" dirty="0"/>
            </a:br>
            <a:r>
              <a:rPr lang="pt-BR" sz="2000" b="1" strike="noStrike" spc="-1" dirty="0">
                <a:solidFill>
                  <a:srgbClr val="FFFFFF"/>
                </a:solidFill>
                <a:latin typeface="Calibri"/>
                <a:ea typeface="Calibri"/>
              </a:rPr>
              <a:t>TEMPO MÉDIO DE ESPERA PARA O ACOLHIMENTO COM AVALIAÇÃO E CLASSIFICAÇÃO DE RISCO</a:t>
            </a:r>
            <a:endParaRPr lang="pt-BR" sz="20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pt-BR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06" name="Google Shape;125;p5"/>
          <p:cNvGraphicFramePr/>
          <p:nvPr>
            <p:extLst>
              <p:ext uri="{D42A27DB-BD31-4B8C-83A1-F6EECF244321}">
                <p14:modId xmlns:p14="http://schemas.microsoft.com/office/powerpoint/2010/main" val="255652977"/>
              </p:ext>
            </p:extLst>
          </p:nvPr>
        </p:nvGraphicFramePr>
        <p:xfrm>
          <a:off x="3312825" y="848543"/>
          <a:ext cx="8131065" cy="6266418"/>
        </p:xfrm>
        <a:graphic>
          <a:graphicData uri="http://schemas.openxmlformats.org/drawingml/2006/table">
            <a:tbl>
              <a:tblPr/>
              <a:tblGrid>
                <a:gridCol w="1924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82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50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2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250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5677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7592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pt-BR" sz="2400" b="1" strike="noStrike" spc="-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Unidade</a:t>
                      </a:r>
                      <a:endParaRPr lang="pt-BR" sz="24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9360">
                      <a:solidFill>
                        <a:srgbClr val="FFFFFF"/>
                      </a:solidFill>
                    </a:lnB>
                    <a:solidFill>
                      <a:srgbClr val="B311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pt-BR" sz="2400" b="1" strike="noStrike" spc="-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Meta</a:t>
                      </a:r>
                      <a:endParaRPr lang="pt-BR" sz="24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9360">
                      <a:solidFill>
                        <a:srgbClr val="FFFFFF"/>
                      </a:solidFill>
                    </a:lnB>
                    <a:solidFill>
                      <a:srgbClr val="B3116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4999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2200" b="1" strike="noStrike" spc="-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Julho 23</a:t>
                      </a:r>
                      <a:endParaRPr lang="pt-BR" sz="22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9360">
                      <a:solidFill>
                        <a:srgbClr val="FFFFFF"/>
                      </a:solidFill>
                    </a:lnB>
                    <a:solidFill>
                      <a:srgbClr val="B3116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4999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2000" b="1" strike="noStrike" spc="-1">
                          <a:solidFill>
                            <a:schemeClr val="lt1"/>
                          </a:solidFill>
                          <a:latin typeface="Calibri"/>
                          <a:ea typeface="Calibri"/>
                        </a:rPr>
                        <a:t>Agosto 23</a:t>
                      </a:r>
                      <a:endParaRPr lang="pt-BR" sz="2000" b="0" strike="noStrike" spc="-1">
                        <a:solidFill>
                          <a:schemeClr val="lt1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9360">
                      <a:solidFill>
                        <a:srgbClr val="FFFFFF"/>
                      </a:solidFill>
                    </a:lnB>
                    <a:solidFill>
                      <a:srgbClr val="B3116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4999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2000" b="1" strike="noStrike" spc="-1">
                          <a:solidFill>
                            <a:schemeClr val="lt1"/>
                          </a:solidFill>
                          <a:latin typeface="Calibri"/>
                          <a:ea typeface="Calibri"/>
                        </a:rPr>
                        <a:t>Setembro 23</a:t>
                      </a:r>
                      <a:endParaRPr lang="pt-BR" sz="20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9360">
                      <a:solidFill>
                        <a:srgbClr val="FFFFFF"/>
                      </a:solidFill>
                    </a:lnB>
                    <a:solidFill>
                      <a:srgbClr val="B311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pt-BR" sz="2000" b="1" strike="noStrike" spc="-1">
                          <a:solidFill>
                            <a:schemeClr val="lt1"/>
                          </a:solidFill>
                          <a:latin typeface="Calibri"/>
                          <a:ea typeface="Calibri"/>
                        </a:rPr>
                        <a:t>Outubro23</a:t>
                      </a: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9360">
                      <a:solidFill>
                        <a:srgbClr val="FFFFFF"/>
                      </a:solidFill>
                    </a:lnB>
                    <a:solidFill>
                      <a:srgbClr val="B311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72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pt-BR" sz="2000" b="1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UPA JK</a:t>
                      </a:r>
                      <a:endParaRPr lang="pt-BR" sz="20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9360">
                      <a:solidFill>
                        <a:srgbClr val="FFFFFF"/>
                      </a:solidFill>
                    </a:lnL>
                    <a:lnR w="9360">
                      <a:solidFill>
                        <a:srgbClr val="FFFFFF"/>
                      </a:solidFill>
                    </a:lnR>
                    <a:lnT w="9360">
                      <a:solidFill>
                        <a:srgbClr val="FFFFFF"/>
                      </a:solidFill>
                    </a:lnT>
                    <a:lnB w="936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pt-BR" sz="17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00:10:00</a:t>
                      </a:r>
                      <a:endParaRPr lang="pt-BR" sz="17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9360">
                      <a:solidFill>
                        <a:srgbClr val="FFFFFF"/>
                      </a:solidFill>
                    </a:lnL>
                    <a:lnR w="9360">
                      <a:solidFill>
                        <a:srgbClr val="FFFFFF"/>
                      </a:solidFill>
                    </a:lnR>
                    <a:lnT w="9360">
                      <a:solidFill>
                        <a:srgbClr val="FFFFFF"/>
                      </a:solidFill>
                    </a:lnT>
                    <a:lnB w="936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700" b="1" strike="noStrike" spc="-1">
                          <a:solidFill>
                            <a:srgbClr val="FF0000"/>
                          </a:solidFill>
                          <a:latin typeface="Calibri"/>
                          <a:ea typeface="Calibri"/>
                        </a:rPr>
                        <a:t>00:15:49</a:t>
                      </a:r>
                      <a:endParaRPr lang="pt-BR" sz="17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 anchor="ctr">
                    <a:lnL w="9360">
                      <a:solidFill>
                        <a:srgbClr val="FFFFFF"/>
                      </a:solidFill>
                    </a:lnL>
                    <a:lnR w="9360">
                      <a:solidFill>
                        <a:srgbClr val="FFFFFF"/>
                      </a:solidFill>
                    </a:lnR>
                    <a:lnT w="9360">
                      <a:solidFill>
                        <a:srgbClr val="FFFFFF"/>
                      </a:solidFill>
                    </a:lnT>
                    <a:lnB w="936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700" b="1" strike="noStrike" spc="-1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</a:rPr>
                        <a:t>00:11:37</a:t>
                      </a:r>
                      <a:endParaRPr lang="pt-BR" sz="17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 anchor="ctr">
                    <a:lnL w="9360">
                      <a:solidFill>
                        <a:srgbClr val="FFFFFF"/>
                      </a:solidFill>
                    </a:lnL>
                    <a:lnR w="9360">
                      <a:solidFill>
                        <a:srgbClr val="FFFFFF"/>
                      </a:solidFill>
                    </a:lnR>
                    <a:lnT w="9360">
                      <a:solidFill>
                        <a:srgbClr val="FFFFFF"/>
                      </a:solidFill>
                    </a:lnT>
                    <a:lnB w="936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  <a:tabLst>
                          <a:tab pos="0" algn="l"/>
                        </a:tabLst>
                      </a:pPr>
                      <a:r>
                        <a:rPr lang="pt-BR" sz="1700" b="1" strike="noStrike" spc="-1">
                          <a:solidFill>
                            <a:srgbClr val="FF0000"/>
                          </a:solidFill>
                          <a:latin typeface="Calibri"/>
                          <a:ea typeface="Calibri"/>
                        </a:rPr>
                        <a:t>00:15:30</a:t>
                      </a:r>
                      <a:endParaRPr lang="pt-BR"/>
                    </a:p>
                  </a:txBody>
                  <a:tcPr marL="91080" marR="91080" anchor="ctr">
                    <a:lnL w="9360">
                      <a:solidFill>
                        <a:srgbClr val="FFFFFF"/>
                      </a:solidFill>
                    </a:lnL>
                    <a:lnR w="9360">
                      <a:solidFill>
                        <a:srgbClr val="FFFFFF"/>
                      </a:solidFill>
                    </a:lnR>
                    <a:lnT w="9360">
                      <a:solidFill>
                        <a:srgbClr val="FFFFFF"/>
                      </a:solidFill>
                    </a:lnT>
                    <a:lnB w="936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700" b="1" strike="noStrike" spc="-1">
                          <a:solidFill>
                            <a:srgbClr val="FF0000"/>
                          </a:solidFill>
                          <a:latin typeface="Calibri"/>
                          <a:ea typeface="Calibri"/>
                        </a:rPr>
                        <a:t>00:13:31</a:t>
                      </a:r>
                    </a:p>
                  </a:txBody>
                  <a:tcPr marL="91080" marR="91080" anchor="ctr">
                    <a:lnL w="9360">
                      <a:solidFill>
                        <a:srgbClr val="FFFFFF"/>
                      </a:solidFill>
                    </a:lnL>
                    <a:lnR w="9360">
                      <a:solidFill>
                        <a:srgbClr val="FFFFFF"/>
                      </a:solidFill>
                    </a:lnR>
                    <a:lnT w="9360">
                      <a:solidFill>
                        <a:srgbClr val="FFFFFF"/>
                      </a:solidFill>
                    </a:lnT>
                    <a:lnB w="936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312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pt-BR" sz="2000" b="1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UPA Vargem das Flores</a:t>
                      </a:r>
                      <a:endParaRPr lang="pt-BR" sz="20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9360">
                      <a:solidFill>
                        <a:srgbClr val="FFFFFF"/>
                      </a:solidFill>
                    </a:lnL>
                    <a:lnR w="9360">
                      <a:solidFill>
                        <a:srgbClr val="FFFFFF"/>
                      </a:solidFill>
                    </a:lnR>
                    <a:lnT w="9360">
                      <a:solidFill>
                        <a:srgbClr val="FFFFFF"/>
                      </a:solidFill>
                    </a:lnT>
                    <a:lnB w="936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pt-BR" sz="1700" b="1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00:10:00</a:t>
                      </a:r>
                      <a:endParaRPr lang="pt-BR" sz="17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9360">
                      <a:solidFill>
                        <a:srgbClr val="FFFFFF"/>
                      </a:solidFill>
                    </a:lnL>
                    <a:lnR w="9360">
                      <a:solidFill>
                        <a:srgbClr val="FFFFFF"/>
                      </a:solidFill>
                    </a:lnR>
                    <a:lnT w="9360">
                      <a:solidFill>
                        <a:srgbClr val="FFFFFF"/>
                      </a:solidFill>
                    </a:lnT>
                    <a:lnB w="936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700" b="1" strike="noStrike" spc="-1">
                          <a:solidFill>
                            <a:srgbClr val="FF0000"/>
                          </a:solidFill>
                          <a:latin typeface="Calibri"/>
                          <a:ea typeface="Calibri"/>
                        </a:rPr>
                        <a:t>00:12:06</a:t>
                      </a:r>
                      <a:endParaRPr lang="pt-BR" sz="17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 anchor="ctr">
                    <a:lnL w="9360">
                      <a:solidFill>
                        <a:srgbClr val="FFFFFF"/>
                      </a:solidFill>
                    </a:lnL>
                    <a:lnR w="9360">
                      <a:solidFill>
                        <a:srgbClr val="FFFFFF"/>
                      </a:solidFill>
                    </a:lnR>
                    <a:lnT w="9360">
                      <a:solidFill>
                        <a:srgbClr val="FFFFFF"/>
                      </a:solidFill>
                    </a:lnT>
                    <a:lnB w="936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700" b="1" strike="noStrike" spc="-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00:09:18</a:t>
                      </a:r>
                      <a:endParaRPr lang="pt-BR" sz="17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 anchor="ctr">
                    <a:lnL w="9360">
                      <a:solidFill>
                        <a:srgbClr val="FFFFFF"/>
                      </a:solidFill>
                    </a:lnL>
                    <a:lnR w="9360">
                      <a:solidFill>
                        <a:srgbClr val="FFFFFF"/>
                      </a:solidFill>
                    </a:lnR>
                    <a:lnT w="9360">
                      <a:solidFill>
                        <a:srgbClr val="FFFFFF"/>
                      </a:solidFill>
                    </a:lnT>
                    <a:lnB w="936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  <a:tabLst>
                          <a:tab pos="0" algn="l"/>
                        </a:tabLst>
                      </a:pPr>
                      <a:r>
                        <a:rPr lang="pt-BR" sz="1700" b="1" strike="noStrike" spc="-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00:12:04</a:t>
                      </a:r>
                      <a:endParaRPr lang="pt-BR" dirty="0"/>
                    </a:p>
                  </a:txBody>
                  <a:tcPr marL="91080" marR="91080" anchor="ctr">
                    <a:lnL w="9360">
                      <a:solidFill>
                        <a:srgbClr val="FFFFFF"/>
                      </a:solidFill>
                    </a:lnL>
                    <a:lnR w="9360">
                      <a:solidFill>
                        <a:srgbClr val="FFFFFF"/>
                      </a:solidFill>
                    </a:lnR>
                    <a:lnT w="9360">
                      <a:solidFill>
                        <a:srgbClr val="FFFFFF"/>
                      </a:solidFill>
                    </a:lnT>
                    <a:lnB w="936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700" b="1" strike="noStrike" spc="-1">
                          <a:solidFill>
                            <a:srgbClr val="FF0000"/>
                          </a:solidFill>
                          <a:latin typeface="Calibri"/>
                          <a:ea typeface="Calibri"/>
                        </a:rPr>
                        <a:t>00:15:15</a:t>
                      </a:r>
                    </a:p>
                  </a:txBody>
                  <a:tcPr marL="91080" marR="91080" anchor="ctr">
                    <a:lnL w="9360">
                      <a:solidFill>
                        <a:srgbClr val="FFFFFF"/>
                      </a:solidFill>
                    </a:lnL>
                    <a:lnR w="9360">
                      <a:solidFill>
                        <a:srgbClr val="FFFFFF"/>
                      </a:solidFill>
                    </a:lnR>
                    <a:lnT w="9360">
                      <a:solidFill>
                        <a:srgbClr val="FFFFFF"/>
                      </a:solidFill>
                    </a:lnT>
                    <a:lnB w="936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1736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pt-BR" sz="2000" b="1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UPA Ressaca</a:t>
                      </a:r>
                      <a:endParaRPr lang="pt-BR" sz="20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9360">
                      <a:solidFill>
                        <a:srgbClr val="FFFFFF"/>
                      </a:solidFill>
                    </a:lnL>
                    <a:lnR w="9360">
                      <a:solidFill>
                        <a:srgbClr val="FFFFFF"/>
                      </a:solidFill>
                    </a:lnR>
                    <a:lnT w="9360">
                      <a:solidFill>
                        <a:srgbClr val="FFFFFF"/>
                      </a:solidFill>
                    </a:lnT>
                    <a:lnB w="936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pt-BR" sz="1700" b="1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00:10:00</a:t>
                      </a:r>
                      <a:endParaRPr lang="pt-BR" sz="17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9360">
                      <a:solidFill>
                        <a:srgbClr val="FFFFFF"/>
                      </a:solidFill>
                    </a:lnL>
                    <a:lnR w="9360">
                      <a:solidFill>
                        <a:srgbClr val="FFFFFF"/>
                      </a:solidFill>
                    </a:lnR>
                    <a:lnT w="9360">
                      <a:solidFill>
                        <a:srgbClr val="FFFFFF"/>
                      </a:solidFill>
                    </a:lnT>
                    <a:lnB w="936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700" b="1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00:07:41</a:t>
                      </a:r>
                      <a:endParaRPr lang="pt-BR" sz="17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 anchor="ctr">
                    <a:lnL w="9360">
                      <a:solidFill>
                        <a:srgbClr val="FFFFFF"/>
                      </a:solidFill>
                    </a:lnL>
                    <a:lnR w="9360">
                      <a:solidFill>
                        <a:srgbClr val="FFFFFF"/>
                      </a:solidFill>
                    </a:lnR>
                    <a:lnT w="9360">
                      <a:solidFill>
                        <a:srgbClr val="FFFFFF"/>
                      </a:solidFill>
                    </a:lnT>
                    <a:lnB w="936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700" b="1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00:07:18</a:t>
                      </a:r>
                      <a:endParaRPr lang="pt-BR" sz="17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 anchor="ctr">
                    <a:lnL w="9360">
                      <a:solidFill>
                        <a:srgbClr val="FFFFFF"/>
                      </a:solidFill>
                    </a:lnL>
                    <a:lnR w="9360">
                      <a:solidFill>
                        <a:srgbClr val="FFFFFF"/>
                      </a:solidFill>
                    </a:lnR>
                    <a:lnT w="9360">
                      <a:solidFill>
                        <a:srgbClr val="FFFFFF"/>
                      </a:solidFill>
                    </a:lnT>
                    <a:lnB w="936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  <a:tabLst>
                          <a:tab pos="0" algn="l"/>
                        </a:tabLst>
                      </a:pPr>
                      <a:r>
                        <a:rPr lang="pt-BR" sz="1700" b="1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00:08:13</a:t>
                      </a:r>
                      <a:endParaRPr lang="pt-BR"/>
                    </a:p>
                  </a:txBody>
                  <a:tcPr marL="91080" marR="91080" anchor="ctr">
                    <a:lnL w="9360">
                      <a:solidFill>
                        <a:srgbClr val="FFFFFF"/>
                      </a:solidFill>
                    </a:lnL>
                    <a:lnR w="9360">
                      <a:solidFill>
                        <a:srgbClr val="FFFFFF"/>
                      </a:solidFill>
                    </a:lnR>
                    <a:lnT w="9360">
                      <a:solidFill>
                        <a:srgbClr val="FFFFFF"/>
                      </a:solidFill>
                    </a:lnT>
                    <a:lnB w="936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700" b="1" strike="noStrike" spc="-1">
                          <a:solidFill>
                            <a:srgbClr val="FF0000"/>
                          </a:solidFill>
                          <a:latin typeface="Calibri"/>
                          <a:ea typeface="Calibri"/>
                        </a:rPr>
                        <a:t>00:10:48</a:t>
                      </a:r>
                    </a:p>
                  </a:txBody>
                  <a:tcPr marL="91080" marR="91080" anchor="ctr">
                    <a:lnL w="9360">
                      <a:solidFill>
                        <a:srgbClr val="FFFFFF"/>
                      </a:solidFill>
                    </a:lnL>
                    <a:lnR w="9360">
                      <a:solidFill>
                        <a:srgbClr val="FFFFFF"/>
                      </a:solidFill>
                    </a:lnR>
                    <a:lnT w="9360">
                      <a:solidFill>
                        <a:srgbClr val="FFFFFF"/>
                      </a:solidFill>
                    </a:lnT>
                    <a:lnB w="936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64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pt-BR" sz="2000" b="1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UPA Petrolândia</a:t>
                      </a:r>
                      <a:endParaRPr lang="pt-BR" sz="20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9360">
                      <a:solidFill>
                        <a:srgbClr val="FFFFFF"/>
                      </a:solidFill>
                    </a:lnL>
                    <a:lnR w="9360">
                      <a:solidFill>
                        <a:srgbClr val="FFFFFF"/>
                      </a:solidFill>
                    </a:lnR>
                    <a:lnT w="9360">
                      <a:solidFill>
                        <a:srgbClr val="FFFFFF"/>
                      </a:solidFill>
                    </a:lnT>
                    <a:lnB w="936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pt-BR" sz="1700" b="1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00:10:00</a:t>
                      </a:r>
                      <a:endParaRPr lang="pt-BR" sz="17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9360">
                      <a:solidFill>
                        <a:srgbClr val="FFFFFF"/>
                      </a:solidFill>
                    </a:lnL>
                    <a:lnR w="9360">
                      <a:solidFill>
                        <a:srgbClr val="FFFFFF"/>
                      </a:solidFill>
                    </a:lnR>
                    <a:lnT w="9360">
                      <a:solidFill>
                        <a:srgbClr val="FFFFFF"/>
                      </a:solidFill>
                    </a:lnT>
                    <a:lnB w="936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700" b="1" strike="noStrike" spc="-1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00:07:01</a:t>
                      </a:r>
                      <a:endParaRPr lang="pt-BR" sz="17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 anchor="ctr">
                    <a:lnL w="9360">
                      <a:solidFill>
                        <a:srgbClr val="FFFFFF"/>
                      </a:solidFill>
                    </a:lnL>
                    <a:lnR w="9360">
                      <a:solidFill>
                        <a:srgbClr val="FFFFFF"/>
                      </a:solidFill>
                    </a:lnR>
                    <a:lnT w="9360">
                      <a:solidFill>
                        <a:srgbClr val="FFFFFF"/>
                      </a:solidFill>
                    </a:lnT>
                    <a:lnB w="936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700" b="1" strike="noStrike" spc="-1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00:05:56</a:t>
                      </a:r>
                      <a:endParaRPr lang="pt-BR" sz="17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 anchor="ctr">
                    <a:lnL w="9360">
                      <a:solidFill>
                        <a:srgbClr val="FFFFFF"/>
                      </a:solidFill>
                    </a:lnL>
                    <a:lnR w="9360">
                      <a:solidFill>
                        <a:srgbClr val="FFFFFF"/>
                      </a:solidFill>
                    </a:lnR>
                    <a:lnT w="9360">
                      <a:solidFill>
                        <a:srgbClr val="FFFFFF"/>
                      </a:solidFill>
                    </a:lnT>
                    <a:lnB w="936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  <a:tabLst>
                          <a:tab pos="0" algn="l"/>
                        </a:tabLst>
                      </a:pPr>
                      <a:r>
                        <a:rPr lang="pt-BR" sz="1700" b="1" strike="noStrike" spc="-1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00:10:28</a:t>
                      </a:r>
                      <a:endParaRPr lang="pt-BR"/>
                    </a:p>
                  </a:txBody>
                  <a:tcPr marL="91080" marR="91080" anchor="ctr">
                    <a:lnL w="9360">
                      <a:solidFill>
                        <a:srgbClr val="FFFFFF"/>
                      </a:solidFill>
                    </a:lnL>
                    <a:lnR w="9360">
                      <a:solidFill>
                        <a:srgbClr val="FFFFFF"/>
                      </a:solidFill>
                    </a:lnR>
                    <a:lnT w="9360">
                      <a:solidFill>
                        <a:srgbClr val="FFFFFF"/>
                      </a:solidFill>
                    </a:lnT>
                    <a:lnB w="936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700" b="1" strike="noStrike" spc="-1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00:06:00</a:t>
                      </a:r>
                    </a:p>
                  </a:txBody>
                  <a:tcPr marL="91080" marR="91080" anchor="ctr">
                    <a:lnL w="9360">
                      <a:solidFill>
                        <a:srgbClr val="FFFFFF"/>
                      </a:solidFill>
                    </a:lnL>
                    <a:lnR w="9360">
                      <a:solidFill>
                        <a:srgbClr val="FFFFFF"/>
                      </a:solidFill>
                    </a:lnR>
                    <a:lnT w="9360">
                      <a:solidFill>
                        <a:srgbClr val="FFFFFF"/>
                      </a:solidFill>
                    </a:lnT>
                    <a:lnB w="936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06400">
                <a:tc>
                  <a:txBody>
                    <a:bodyPr/>
                    <a:lstStyle/>
                    <a:p>
                      <a:pPr lvl="0" algn="ctr">
                        <a:lnSpc>
                          <a:spcPct val="114999"/>
                        </a:lnSpc>
                        <a:buNone/>
                      </a:pPr>
                      <a:r>
                        <a:rPr lang="pt-BR" sz="2000" b="1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UPA Industrial</a:t>
                      </a:r>
                    </a:p>
                  </a:txBody>
                  <a:tcPr marL="9360" marR="9360" anchor="ctr">
                    <a:lnL w="9360">
                      <a:solidFill>
                        <a:srgbClr val="FFFFFF"/>
                      </a:solidFill>
                    </a:lnL>
                    <a:lnR w="9360">
                      <a:solidFill>
                        <a:srgbClr val="FFFFFF"/>
                      </a:solidFill>
                    </a:lnR>
                    <a:lnT w="9360">
                      <a:solidFill>
                        <a:srgbClr val="FFFFFF"/>
                      </a:solidFill>
                    </a:lnT>
                    <a:lnB w="936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4999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700" b="1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00:10:00</a:t>
                      </a:r>
                    </a:p>
                  </a:txBody>
                  <a:tcPr marL="9360" marR="9360" anchor="ctr">
                    <a:lnL w="9360">
                      <a:solidFill>
                        <a:srgbClr val="FFFFFF"/>
                      </a:solidFill>
                    </a:lnL>
                    <a:lnR w="9360">
                      <a:solidFill>
                        <a:srgbClr val="FFFFFF"/>
                      </a:solidFill>
                    </a:lnR>
                    <a:lnT w="9360">
                      <a:solidFill>
                        <a:srgbClr val="FFFFFF"/>
                      </a:solidFill>
                    </a:lnT>
                    <a:lnB w="936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700" b="1" strike="noStrike" spc="-1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-</a:t>
                      </a:r>
                    </a:p>
                  </a:txBody>
                  <a:tcPr marL="91080" marR="91080" anchor="ctr">
                    <a:lnL w="9360">
                      <a:solidFill>
                        <a:srgbClr val="FFFFFF"/>
                      </a:solidFill>
                    </a:lnL>
                    <a:lnR w="9360">
                      <a:solidFill>
                        <a:srgbClr val="FFFFFF"/>
                      </a:solidFill>
                    </a:lnR>
                    <a:lnT w="9360">
                      <a:solidFill>
                        <a:srgbClr val="FFFFFF"/>
                      </a:solidFill>
                    </a:lnT>
                    <a:lnB w="936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700" b="1" strike="noStrike" spc="-1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-</a:t>
                      </a:r>
                    </a:p>
                  </a:txBody>
                  <a:tcPr marL="91080" marR="91080" anchor="ctr">
                    <a:lnL w="9360">
                      <a:solidFill>
                        <a:srgbClr val="FFFFFF"/>
                      </a:solidFill>
                    </a:lnL>
                    <a:lnR w="9360">
                      <a:solidFill>
                        <a:srgbClr val="FFFFFF"/>
                      </a:solidFill>
                    </a:lnR>
                    <a:lnT w="9360">
                      <a:solidFill>
                        <a:srgbClr val="FFFFFF"/>
                      </a:solidFill>
                    </a:lnT>
                    <a:lnB w="936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  <a:tabLst>
                          <a:tab pos="0" algn="l"/>
                        </a:tabLst>
                      </a:pPr>
                      <a:r>
                        <a:rPr lang="pt-BR" sz="1700" b="1" strike="noStrike" spc="-1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00:10</a:t>
                      </a:r>
                    </a:p>
                  </a:txBody>
                  <a:tcPr marL="91080" marR="91080" anchor="ctr">
                    <a:lnL w="9360">
                      <a:solidFill>
                        <a:srgbClr val="FFFFFF"/>
                      </a:solidFill>
                    </a:lnL>
                    <a:lnR w="9360">
                      <a:solidFill>
                        <a:srgbClr val="FFFFFF"/>
                      </a:solidFill>
                    </a:lnR>
                    <a:lnT w="9360">
                      <a:solidFill>
                        <a:srgbClr val="FFFFFF"/>
                      </a:solidFill>
                    </a:lnT>
                    <a:lnB w="936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BR" sz="1700" b="1" strike="noStrike" spc="-1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00:10</a:t>
                      </a:r>
                    </a:p>
                  </a:txBody>
                  <a:tcPr marL="91080" marR="91080" anchor="ctr">
                    <a:lnL w="9360">
                      <a:solidFill>
                        <a:srgbClr val="FFFFFF"/>
                      </a:solidFill>
                    </a:lnL>
                    <a:lnR w="9360">
                      <a:solidFill>
                        <a:srgbClr val="FFFFFF"/>
                      </a:solidFill>
                    </a:lnR>
                    <a:lnT w="9360">
                      <a:solidFill>
                        <a:srgbClr val="FFFFFF"/>
                      </a:solidFill>
                    </a:lnT>
                    <a:lnB w="936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1548043"/>
                  </a:ext>
                </a:extLst>
              </a:tr>
              <a:tr h="1116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pt-BR" sz="2000" b="1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Total</a:t>
                      </a:r>
                      <a:endParaRPr lang="pt-BR" sz="20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9360">
                      <a:solidFill>
                        <a:srgbClr val="FFFFFF"/>
                      </a:solidFill>
                    </a:lnL>
                    <a:lnR w="9360">
                      <a:solidFill>
                        <a:srgbClr val="FFFFFF"/>
                      </a:solidFill>
                    </a:lnR>
                    <a:lnT w="9360">
                      <a:solidFill>
                        <a:srgbClr val="FFFFFF"/>
                      </a:solidFill>
                    </a:lnT>
                    <a:lnB w="9360">
                      <a:solidFill>
                        <a:srgbClr val="FFFFFF"/>
                      </a:solidFill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pt-BR" sz="1700" b="1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00:10:00</a:t>
                      </a:r>
                      <a:endParaRPr lang="pt-BR" sz="17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9360">
                      <a:solidFill>
                        <a:srgbClr val="FFFFFF"/>
                      </a:solidFill>
                    </a:lnL>
                    <a:lnR w="9360">
                      <a:solidFill>
                        <a:srgbClr val="FFFFFF"/>
                      </a:solidFill>
                    </a:lnR>
                    <a:lnT w="9360">
                      <a:solidFill>
                        <a:srgbClr val="FFFFFF"/>
                      </a:solidFill>
                    </a:lnT>
                    <a:lnB w="9360">
                      <a:solidFill>
                        <a:srgbClr val="FFFFFF"/>
                      </a:solidFill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700" b="1" strike="noStrike" spc="-1">
                          <a:solidFill>
                            <a:srgbClr val="FF0000"/>
                          </a:solidFill>
                          <a:latin typeface="Calibri"/>
                          <a:ea typeface="Calibri"/>
                        </a:rPr>
                        <a:t>00:10:39</a:t>
                      </a:r>
                      <a:endParaRPr lang="pt-BR" sz="17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 anchor="ctr">
                    <a:lnL w="9360">
                      <a:solidFill>
                        <a:srgbClr val="FFFFFF"/>
                      </a:solidFill>
                    </a:lnL>
                    <a:lnR w="9360">
                      <a:solidFill>
                        <a:srgbClr val="FFFFFF"/>
                      </a:solidFill>
                    </a:lnR>
                    <a:lnT w="9360">
                      <a:solidFill>
                        <a:srgbClr val="FFFFFF"/>
                      </a:solidFill>
                    </a:lnT>
                    <a:lnB w="9360">
                      <a:solidFill>
                        <a:srgbClr val="FFFFFF"/>
                      </a:solidFill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700" b="1" strike="noStrike" spc="-1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00:08:32</a:t>
                      </a:r>
                      <a:endParaRPr lang="pt-BR" sz="17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 anchor="ctr">
                    <a:lnL w="9360">
                      <a:solidFill>
                        <a:srgbClr val="FFFFFF"/>
                      </a:solidFill>
                    </a:lnL>
                    <a:lnR w="9360">
                      <a:solidFill>
                        <a:srgbClr val="FFFFFF"/>
                      </a:solidFill>
                    </a:lnR>
                    <a:lnT w="9360">
                      <a:solidFill>
                        <a:srgbClr val="FFFFFF"/>
                      </a:solidFill>
                    </a:lnT>
                    <a:lnB w="9360">
                      <a:solidFill>
                        <a:srgbClr val="FFFFFF"/>
                      </a:solidFill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  <a:tabLst>
                          <a:tab pos="0" algn="l"/>
                        </a:tabLst>
                      </a:pPr>
                      <a:r>
                        <a:rPr lang="pt-BR" sz="1700" b="1" strike="noStrike" spc="-1">
                          <a:solidFill>
                            <a:srgbClr val="FF0000"/>
                          </a:solidFill>
                          <a:latin typeface="Calibri"/>
                          <a:ea typeface="Calibri"/>
                        </a:rPr>
                        <a:t>00:11:34</a:t>
                      </a:r>
                      <a:endParaRPr lang="pt-BR">
                        <a:solidFill>
                          <a:srgbClr val="FF0000"/>
                        </a:solidFill>
                      </a:endParaRPr>
                    </a:p>
                  </a:txBody>
                  <a:tcPr marL="91080" marR="91080" anchor="ctr">
                    <a:lnL w="9360">
                      <a:solidFill>
                        <a:srgbClr val="FFFFFF"/>
                      </a:solidFill>
                    </a:lnL>
                    <a:lnR w="9360">
                      <a:solidFill>
                        <a:srgbClr val="FFFFFF"/>
                      </a:solidFill>
                    </a:lnR>
                    <a:lnT w="9360">
                      <a:solidFill>
                        <a:srgbClr val="FFFFFF"/>
                      </a:solidFill>
                    </a:lnT>
                    <a:lnB w="9360">
                      <a:solidFill>
                        <a:srgbClr val="FFFFFF"/>
                      </a:solidFill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700" b="1" strike="noStrike" spc="-1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</a:rPr>
                        <a:t>00:11:07</a:t>
                      </a:r>
                    </a:p>
                  </a:txBody>
                  <a:tcPr marL="91080" marR="91080" anchor="ctr">
                    <a:lnL w="9360">
                      <a:solidFill>
                        <a:srgbClr val="FFFFFF"/>
                      </a:solidFill>
                    </a:lnL>
                    <a:lnR w="9360">
                      <a:solidFill>
                        <a:srgbClr val="FFFFFF"/>
                      </a:solidFill>
                    </a:lnR>
                    <a:lnT w="9360">
                      <a:solidFill>
                        <a:srgbClr val="FFFFFF"/>
                      </a:solidFill>
                    </a:lnT>
                    <a:lnB w="9360">
                      <a:solidFill>
                        <a:srgbClr val="FFFFFF"/>
                      </a:solidFill>
                    </a:lnB>
                    <a:solidFill>
                      <a:srgbClr val="E6B8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131;p8"/>
          <p:cNvPicPr/>
          <p:nvPr/>
        </p:nvPicPr>
        <p:blipFill>
          <a:blip r:embed="rId2"/>
          <a:srcRect r="65499"/>
          <a:stretch/>
        </p:blipFill>
        <p:spPr>
          <a:xfrm>
            <a:off x="0" y="14400"/>
            <a:ext cx="3514320" cy="6857640"/>
          </a:xfrm>
          <a:prstGeom prst="rect">
            <a:avLst/>
          </a:prstGeom>
          <a:ln w="0">
            <a:noFill/>
          </a:ln>
        </p:spPr>
      </p:pic>
      <p:pic>
        <p:nvPicPr>
          <p:cNvPr id="209" name="Google Shape;132;p8"/>
          <p:cNvPicPr/>
          <p:nvPr/>
        </p:nvPicPr>
        <p:blipFill>
          <a:blip r:embed="rId3"/>
          <a:stretch/>
        </p:blipFill>
        <p:spPr>
          <a:xfrm>
            <a:off x="198360" y="5899320"/>
            <a:ext cx="1904760" cy="738000"/>
          </a:xfrm>
          <a:prstGeom prst="rect">
            <a:avLst/>
          </a:prstGeom>
          <a:ln w="0">
            <a:noFill/>
          </a:ln>
        </p:spPr>
      </p:pic>
      <p:sp>
        <p:nvSpPr>
          <p:cNvPr id="210" name="Google Shape;133;p8"/>
          <p:cNvSpPr/>
          <p:nvPr/>
        </p:nvSpPr>
        <p:spPr>
          <a:xfrm>
            <a:off x="422280" y="57240"/>
            <a:ext cx="8496000" cy="764640"/>
          </a:xfrm>
          <a:prstGeom prst="homePlate">
            <a:avLst>
              <a:gd name="adj" fmla="val 21200"/>
            </a:avLst>
          </a:prstGeom>
          <a:solidFill>
            <a:srgbClr val="B33259"/>
          </a:solidFill>
          <a:ln w="0">
            <a:noFill/>
          </a:ln>
          <a:effectLst>
            <a:outerShdw blurRad="63360" sx="102000" sy="102000">
              <a:srgbClr val="000000">
                <a:alpha val="3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2000" b="1" strike="noStrike" spc="-1" dirty="0">
                <a:solidFill>
                  <a:srgbClr val="FFFFFF"/>
                </a:solidFill>
                <a:latin typeface="Calibri"/>
                <a:ea typeface="Calibri"/>
              </a:rPr>
              <a:t>TEMPO MÉDIO DE ESPERA PARA PACIENTES CLASSIFICADOS COM RISCO LARANJA</a:t>
            </a:r>
            <a:endParaRPr lang="pt-BR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Google Shape;134;p8"/>
          <p:cNvSpPr/>
          <p:nvPr/>
        </p:nvSpPr>
        <p:spPr>
          <a:xfrm>
            <a:off x="3515659" y="6476458"/>
            <a:ext cx="5722560" cy="335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8480" bIns="16848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1100" b="1" strike="noStrike" spc="-1">
                <a:solidFill>
                  <a:srgbClr val="B31166"/>
                </a:solidFill>
                <a:latin typeface="Arial"/>
                <a:ea typeface="Arial"/>
              </a:rPr>
              <a:t>FONTE: Dados extraidos do relatório NPA - Tempos de Classificação - SPDATA</a:t>
            </a:r>
            <a:endParaRPr lang="pt-BR" sz="1100" b="0" strike="noStrike" spc="-1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12" name="Google Shape;135;p8"/>
          <p:cNvGraphicFramePr/>
          <p:nvPr>
            <p:extLst>
              <p:ext uri="{D42A27DB-BD31-4B8C-83A1-F6EECF244321}">
                <p14:modId xmlns:p14="http://schemas.microsoft.com/office/powerpoint/2010/main" val="1914960670"/>
              </p:ext>
            </p:extLst>
          </p:nvPr>
        </p:nvGraphicFramePr>
        <p:xfrm>
          <a:off x="2335788" y="691483"/>
          <a:ext cx="9266857" cy="5840054"/>
        </p:xfrm>
        <a:graphic>
          <a:graphicData uri="http://schemas.openxmlformats.org/drawingml/2006/table">
            <a:tbl>
              <a:tblPr/>
              <a:tblGrid>
                <a:gridCol w="20260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5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81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59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906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8044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9158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pt-BR" sz="2300" b="1" strike="noStrike" spc="-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Unidade</a:t>
                      </a:r>
                      <a:endParaRPr lang="pt-BR" sz="23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9E9E9E"/>
                      </a:solidFill>
                    </a:lnL>
                    <a:lnR w="12240">
                      <a:solidFill>
                        <a:srgbClr val="9E9E9E"/>
                      </a:solidFill>
                    </a:lnR>
                    <a:lnT w="12240">
                      <a:solidFill>
                        <a:srgbClr val="9E9E9E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B311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pt-BR" sz="2300" b="1" strike="noStrike" spc="-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Meta</a:t>
                      </a:r>
                      <a:endParaRPr lang="pt-BR" sz="23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9E9E9E"/>
                      </a:solidFill>
                    </a:lnL>
                    <a:lnR w="12240">
                      <a:solidFill>
                        <a:srgbClr val="9E9E9E"/>
                      </a:solidFill>
                    </a:lnR>
                    <a:lnT w="12240">
                      <a:solidFill>
                        <a:srgbClr val="9E9E9E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B3116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4999"/>
                        </a:lnSpc>
                        <a:buNone/>
                      </a:pPr>
                      <a:r>
                        <a:rPr lang="pt-BR" sz="2100" b="1" strike="noStrike" spc="-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Julho  23</a:t>
                      </a:r>
                      <a:endParaRPr lang="pt-BR" sz="21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9E9E9E"/>
                      </a:solidFill>
                    </a:lnL>
                    <a:lnR w="12240">
                      <a:solidFill>
                        <a:srgbClr val="9E9E9E"/>
                      </a:solidFill>
                    </a:lnR>
                    <a:lnT w="12240">
                      <a:solidFill>
                        <a:srgbClr val="9E9E9E"/>
                      </a:solidFill>
                    </a:lnT>
                    <a:lnB w="9360">
                      <a:solidFill>
                        <a:srgbClr val="FFFFFF"/>
                      </a:solidFill>
                    </a:lnB>
                    <a:solidFill>
                      <a:srgbClr val="B3116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4999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2000" b="1" strike="noStrike" spc="-1" dirty="0">
                          <a:solidFill>
                            <a:schemeClr val="lt1"/>
                          </a:solidFill>
                          <a:latin typeface="Calibri"/>
                          <a:ea typeface="Calibri"/>
                        </a:rPr>
                        <a:t>Agosto 23</a:t>
                      </a:r>
                      <a:endParaRPr lang="pt-BR" sz="2000" b="0" strike="noStrike" spc="-1" dirty="0">
                        <a:solidFill>
                          <a:schemeClr val="lt1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9E9E9E"/>
                      </a:solidFill>
                    </a:lnL>
                    <a:lnR w="12240">
                      <a:solidFill>
                        <a:srgbClr val="9E9E9E"/>
                      </a:solidFill>
                    </a:lnR>
                    <a:lnT w="12240">
                      <a:solidFill>
                        <a:srgbClr val="9E9E9E"/>
                      </a:solidFill>
                    </a:lnT>
                    <a:lnB w="9360">
                      <a:solidFill>
                        <a:srgbClr val="FFFFFF"/>
                      </a:solidFill>
                    </a:lnB>
                    <a:solidFill>
                      <a:srgbClr val="B3116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4999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2000" b="1" strike="noStrike" spc="-1" dirty="0">
                          <a:solidFill>
                            <a:schemeClr val="lt1"/>
                          </a:solidFill>
                          <a:latin typeface="Calibri"/>
                          <a:ea typeface="Calibri"/>
                        </a:rPr>
                        <a:t>Setembro 23</a:t>
                      </a:r>
                      <a:endParaRPr lang="pt-BR" sz="20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9E9E9E"/>
                      </a:solidFill>
                    </a:lnL>
                    <a:lnR w="12240">
                      <a:solidFill>
                        <a:srgbClr val="9E9E9E"/>
                      </a:solidFill>
                    </a:lnR>
                    <a:lnT w="12240">
                      <a:solidFill>
                        <a:srgbClr val="9E9E9E"/>
                      </a:solidFill>
                    </a:lnT>
                    <a:lnB w="9360">
                      <a:solidFill>
                        <a:srgbClr val="FFFFFF"/>
                      </a:solidFill>
                    </a:lnB>
                    <a:solidFill>
                      <a:srgbClr val="B311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pt-BR" sz="2000" b="1" strike="noStrike" spc="-1" dirty="0">
                          <a:solidFill>
                            <a:schemeClr val="lt1"/>
                          </a:solidFill>
                          <a:latin typeface="Calibri"/>
                          <a:ea typeface="Calibri"/>
                        </a:rPr>
                        <a:t>Outubro 23</a:t>
                      </a:r>
                    </a:p>
                  </a:txBody>
                  <a:tcPr marL="9360" marR="9360" anchor="ctr">
                    <a:lnL w="12240">
                      <a:solidFill>
                        <a:srgbClr val="9E9E9E"/>
                      </a:solidFill>
                    </a:lnL>
                    <a:lnR w="12240">
                      <a:solidFill>
                        <a:srgbClr val="9E9E9E"/>
                      </a:solidFill>
                    </a:lnR>
                    <a:lnT w="12240">
                      <a:solidFill>
                        <a:srgbClr val="9E9E9E"/>
                      </a:solidFill>
                    </a:lnT>
                    <a:lnB w="9360">
                      <a:solidFill>
                        <a:srgbClr val="FFFFFF"/>
                      </a:solidFill>
                    </a:lnB>
                    <a:solidFill>
                      <a:srgbClr val="B311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068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pt-BR" sz="18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UPA JK</a:t>
                      </a:r>
                      <a:endParaRPr lang="pt-BR" sz="18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pt-BR" sz="17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00:10:00</a:t>
                      </a:r>
                      <a:endParaRPr lang="pt-BR" sz="17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9360">
                      <a:solidFill>
                        <a:srgbClr val="FFFFFF"/>
                      </a:solidFill>
                    </a:lnR>
                    <a:lnT w="3816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700" b="1" strike="noStrike" spc="-1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</a:rPr>
                        <a:t>00:58:19</a:t>
                      </a:r>
                      <a:endParaRPr lang="pt-BR" sz="17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 anchor="ctr">
                    <a:lnL w="9360">
                      <a:solidFill>
                        <a:srgbClr val="FFFFFF"/>
                      </a:solidFill>
                    </a:lnL>
                    <a:lnR w="9360">
                      <a:solidFill>
                        <a:srgbClr val="FFFFFF"/>
                      </a:solidFill>
                    </a:lnR>
                    <a:lnT w="9360">
                      <a:solidFill>
                        <a:srgbClr val="FFFFFF"/>
                      </a:solidFill>
                    </a:lnT>
                    <a:lnB w="936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700" b="1" strike="noStrike" spc="-1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</a:rPr>
                        <a:t>00:39:55</a:t>
                      </a:r>
                      <a:endParaRPr lang="pt-BR" sz="17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 anchor="ctr">
                    <a:lnL w="9360">
                      <a:solidFill>
                        <a:srgbClr val="FFFFFF"/>
                      </a:solidFill>
                    </a:lnL>
                    <a:lnR w="9360">
                      <a:solidFill>
                        <a:srgbClr val="FFFFFF"/>
                      </a:solidFill>
                    </a:lnR>
                    <a:lnT w="9360">
                      <a:solidFill>
                        <a:srgbClr val="FFFFFF"/>
                      </a:solidFill>
                    </a:lnT>
                    <a:lnB w="936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  <a:tabLst>
                          <a:tab pos="0" algn="l"/>
                        </a:tabLst>
                      </a:pPr>
                      <a:r>
                        <a:rPr lang="pt-BR" sz="1700" b="1" strike="noStrike" spc="-1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</a:rPr>
                        <a:t>00:30:55</a:t>
                      </a:r>
                      <a:endParaRPr lang="pt-BR" dirty="0"/>
                    </a:p>
                  </a:txBody>
                  <a:tcPr marL="91080" marR="91080" anchor="ctr">
                    <a:lnL w="9360">
                      <a:solidFill>
                        <a:srgbClr val="FFFFFF"/>
                      </a:solidFill>
                    </a:lnL>
                    <a:lnR w="9360">
                      <a:solidFill>
                        <a:srgbClr val="FFFFFF"/>
                      </a:solidFill>
                    </a:lnR>
                    <a:lnT w="9360">
                      <a:solidFill>
                        <a:srgbClr val="FFFFFF"/>
                      </a:solidFill>
                    </a:lnT>
                    <a:lnB w="936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700" b="1" strike="noStrike" spc="-1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</a:rPr>
                        <a:t>00:38:51</a:t>
                      </a:r>
                    </a:p>
                  </a:txBody>
                  <a:tcPr marL="91080" marR="91080" anchor="ctr">
                    <a:lnL w="9360">
                      <a:solidFill>
                        <a:srgbClr val="FFFFFF"/>
                      </a:solidFill>
                    </a:lnL>
                    <a:lnR w="9360">
                      <a:solidFill>
                        <a:srgbClr val="FFFFFF"/>
                      </a:solidFill>
                    </a:lnR>
                    <a:lnT w="9360">
                      <a:solidFill>
                        <a:srgbClr val="FFFFFF"/>
                      </a:solidFill>
                    </a:lnT>
                    <a:lnB w="936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113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pt-BR" sz="18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UPA Vargem das Flores</a:t>
                      </a:r>
                      <a:endParaRPr lang="pt-BR" sz="18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pt-BR" sz="1700" b="1" strike="noStrike" spc="-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00:10:00</a:t>
                      </a:r>
                      <a:endParaRPr lang="pt-BR" sz="17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936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700" b="1" strike="noStrike" spc="-1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</a:rPr>
                        <a:t>00:22:23</a:t>
                      </a:r>
                      <a:endParaRPr lang="pt-BR" sz="17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 anchor="ctr">
                    <a:lnL w="9360">
                      <a:solidFill>
                        <a:srgbClr val="FFFFFF"/>
                      </a:solidFill>
                    </a:lnL>
                    <a:lnR w="9360">
                      <a:solidFill>
                        <a:srgbClr val="FFFFFF"/>
                      </a:solidFill>
                    </a:lnR>
                    <a:lnT w="9360">
                      <a:solidFill>
                        <a:srgbClr val="FFFFFF"/>
                      </a:solidFill>
                    </a:lnT>
                    <a:lnB w="936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700" b="1" strike="noStrike" spc="-1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</a:rPr>
                        <a:t>00:20:40</a:t>
                      </a:r>
                      <a:endParaRPr lang="pt-BR" sz="17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 anchor="ctr">
                    <a:lnL w="9360">
                      <a:solidFill>
                        <a:srgbClr val="FFFFFF"/>
                      </a:solidFill>
                    </a:lnL>
                    <a:lnR w="9360">
                      <a:solidFill>
                        <a:srgbClr val="FFFFFF"/>
                      </a:solidFill>
                    </a:lnR>
                    <a:lnT w="9360">
                      <a:solidFill>
                        <a:srgbClr val="FFFFFF"/>
                      </a:solidFill>
                    </a:lnT>
                    <a:lnB w="936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  <a:tabLst>
                          <a:tab pos="0" algn="l"/>
                        </a:tabLst>
                      </a:pPr>
                      <a:r>
                        <a:rPr lang="pt-BR" sz="1700" b="1" strike="noStrike" spc="-1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</a:rPr>
                        <a:t>00:26:28</a:t>
                      </a:r>
                      <a:endParaRPr lang="pt-BR" dirty="0"/>
                    </a:p>
                  </a:txBody>
                  <a:tcPr marL="91080" marR="91080" anchor="ctr">
                    <a:lnL w="9360">
                      <a:solidFill>
                        <a:srgbClr val="FFFFFF"/>
                      </a:solidFill>
                    </a:lnL>
                    <a:lnR w="9360">
                      <a:solidFill>
                        <a:srgbClr val="FFFFFF"/>
                      </a:solidFill>
                    </a:lnR>
                    <a:lnT w="9360">
                      <a:solidFill>
                        <a:srgbClr val="FFFFFF"/>
                      </a:solidFill>
                    </a:lnT>
                    <a:lnB w="936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700" b="1" strike="noStrike" spc="-1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</a:rPr>
                        <a:t>00:22:49</a:t>
                      </a:r>
                    </a:p>
                  </a:txBody>
                  <a:tcPr marL="91080" marR="91080" anchor="ctr">
                    <a:lnL w="9360">
                      <a:solidFill>
                        <a:srgbClr val="FFFFFF"/>
                      </a:solidFill>
                    </a:lnL>
                    <a:lnR w="9360">
                      <a:solidFill>
                        <a:srgbClr val="FFFFFF"/>
                      </a:solidFill>
                    </a:lnR>
                    <a:lnT w="9360">
                      <a:solidFill>
                        <a:srgbClr val="FFFFFF"/>
                      </a:solidFill>
                    </a:lnT>
                    <a:lnB w="936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170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pt-BR" sz="18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UPA Ressaca</a:t>
                      </a:r>
                      <a:endParaRPr lang="pt-BR" sz="18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pt-BR" sz="1700" b="1" strike="noStrike" spc="-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00:10:00</a:t>
                      </a:r>
                      <a:endParaRPr lang="pt-BR" sz="17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936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700" b="1" strike="noStrike" spc="-1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</a:rPr>
                        <a:t>00:43:50</a:t>
                      </a:r>
                      <a:endParaRPr lang="pt-BR" sz="17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 anchor="ctr">
                    <a:lnL w="9360">
                      <a:solidFill>
                        <a:srgbClr val="FFFFFF"/>
                      </a:solidFill>
                    </a:lnL>
                    <a:lnR w="9360">
                      <a:solidFill>
                        <a:srgbClr val="FFFFFF"/>
                      </a:solidFill>
                    </a:lnR>
                    <a:lnT w="9360">
                      <a:solidFill>
                        <a:srgbClr val="FFFFFF"/>
                      </a:solidFill>
                    </a:lnT>
                    <a:lnB w="936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700" b="1" strike="noStrike" spc="-1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</a:rPr>
                        <a:t>00:23:09</a:t>
                      </a:r>
                      <a:endParaRPr lang="pt-BR" sz="17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 anchor="ctr">
                    <a:lnL w="9360">
                      <a:solidFill>
                        <a:srgbClr val="FFFFFF"/>
                      </a:solidFill>
                    </a:lnL>
                    <a:lnR w="9360">
                      <a:solidFill>
                        <a:srgbClr val="FFFFFF"/>
                      </a:solidFill>
                    </a:lnR>
                    <a:lnT w="9360">
                      <a:solidFill>
                        <a:srgbClr val="FFFFFF"/>
                      </a:solidFill>
                    </a:lnT>
                    <a:lnB w="936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  <a:tabLst>
                          <a:tab pos="0" algn="l"/>
                        </a:tabLst>
                      </a:pPr>
                      <a:r>
                        <a:rPr lang="pt-BR" sz="1700" b="1" strike="noStrike" spc="-1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</a:rPr>
                        <a:t>00:31:28</a:t>
                      </a:r>
                      <a:endParaRPr lang="pt-BR" dirty="0"/>
                    </a:p>
                  </a:txBody>
                  <a:tcPr marL="91080" marR="91080" anchor="ctr">
                    <a:lnL w="9360">
                      <a:solidFill>
                        <a:srgbClr val="FFFFFF"/>
                      </a:solidFill>
                    </a:lnL>
                    <a:lnR w="9360">
                      <a:solidFill>
                        <a:srgbClr val="FFFFFF"/>
                      </a:solidFill>
                    </a:lnR>
                    <a:lnT w="9360">
                      <a:solidFill>
                        <a:srgbClr val="FFFFFF"/>
                      </a:solidFill>
                    </a:lnT>
                    <a:lnB w="936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700" b="1" strike="noStrike" spc="-1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</a:rPr>
                        <a:t>00:28:48</a:t>
                      </a:r>
                    </a:p>
                  </a:txBody>
                  <a:tcPr marL="91080" marR="91080" anchor="ctr">
                    <a:lnL w="9360">
                      <a:solidFill>
                        <a:srgbClr val="FFFFFF"/>
                      </a:solidFill>
                    </a:lnL>
                    <a:lnR w="9360">
                      <a:solidFill>
                        <a:srgbClr val="FFFFFF"/>
                      </a:solidFill>
                    </a:lnR>
                    <a:lnT w="9360">
                      <a:solidFill>
                        <a:srgbClr val="FFFFFF"/>
                      </a:solidFill>
                    </a:lnT>
                    <a:lnB w="936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5310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pt-BR" sz="18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UPA Petrolândia</a:t>
                      </a:r>
                      <a:endParaRPr lang="pt-BR" sz="18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pt-BR" sz="1700" b="1" strike="noStrike" spc="-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00:10:00</a:t>
                      </a:r>
                      <a:endParaRPr lang="pt-BR" sz="17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936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700" b="1" strike="noStrike" spc="-1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</a:rPr>
                        <a:t>00:33:27</a:t>
                      </a:r>
                      <a:endParaRPr lang="pt-BR" sz="17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 anchor="ctr">
                    <a:lnL w="9360">
                      <a:solidFill>
                        <a:srgbClr val="FFFFFF"/>
                      </a:solidFill>
                    </a:lnL>
                    <a:lnR w="9360">
                      <a:solidFill>
                        <a:srgbClr val="FFFFFF"/>
                      </a:solidFill>
                    </a:lnR>
                    <a:lnT w="9360">
                      <a:solidFill>
                        <a:srgbClr val="FFFFFF"/>
                      </a:solidFill>
                    </a:lnT>
                    <a:lnB w="936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700" b="1" strike="noStrike" spc="-1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</a:rPr>
                        <a:t>00:30:40</a:t>
                      </a:r>
                      <a:endParaRPr lang="pt-BR" sz="17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 anchor="ctr">
                    <a:lnL w="9360">
                      <a:solidFill>
                        <a:srgbClr val="FFFFFF"/>
                      </a:solidFill>
                    </a:lnL>
                    <a:lnR w="9360">
                      <a:solidFill>
                        <a:srgbClr val="FFFFFF"/>
                      </a:solidFill>
                    </a:lnR>
                    <a:lnT w="9360">
                      <a:solidFill>
                        <a:srgbClr val="FFFFFF"/>
                      </a:solidFill>
                    </a:lnT>
                    <a:lnB w="936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  <a:tabLst>
                          <a:tab pos="0" algn="l"/>
                        </a:tabLst>
                      </a:pPr>
                      <a:r>
                        <a:rPr lang="pt-BR" sz="1700" b="1" strike="noStrike" spc="-1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</a:rPr>
                        <a:t>00:32:20</a:t>
                      </a:r>
                      <a:endParaRPr lang="pt-BR" dirty="0"/>
                    </a:p>
                  </a:txBody>
                  <a:tcPr marL="91080" marR="91080" anchor="ctr">
                    <a:lnL w="9360">
                      <a:solidFill>
                        <a:srgbClr val="FFFFFF"/>
                      </a:solidFill>
                    </a:lnL>
                    <a:lnR w="9360">
                      <a:solidFill>
                        <a:srgbClr val="FFFFFF"/>
                      </a:solidFill>
                    </a:lnR>
                    <a:lnT w="9360">
                      <a:solidFill>
                        <a:srgbClr val="FFFFFF"/>
                      </a:solidFill>
                    </a:lnT>
                    <a:lnB w="936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700" b="1" strike="noStrike" spc="-1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</a:rPr>
                        <a:t>00:27:45</a:t>
                      </a:r>
                    </a:p>
                  </a:txBody>
                  <a:tcPr marL="91080" marR="91080" anchor="ctr">
                    <a:lnL w="9360">
                      <a:solidFill>
                        <a:srgbClr val="FFFFFF"/>
                      </a:solidFill>
                    </a:lnL>
                    <a:lnR w="9360">
                      <a:solidFill>
                        <a:srgbClr val="FFFFFF"/>
                      </a:solidFill>
                    </a:lnR>
                    <a:lnT w="9360">
                      <a:solidFill>
                        <a:srgbClr val="FFFFFF"/>
                      </a:solidFill>
                    </a:lnT>
                    <a:lnB w="936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53104">
                <a:tc>
                  <a:txBody>
                    <a:bodyPr/>
                    <a:lstStyle/>
                    <a:p>
                      <a:pPr lvl="0" algn="ctr">
                        <a:lnSpc>
                          <a:spcPct val="114999"/>
                        </a:lnSpc>
                        <a:buNone/>
                      </a:pPr>
                      <a:r>
                        <a:rPr lang="pt-BR" sz="18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UPA Industrial</a:t>
                      </a: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4999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700" b="1" strike="noStrike" spc="-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00:10:00</a:t>
                      </a: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936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700" b="1" strike="noStrike" spc="-1" dirty="0">
                          <a:solidFill>
                            <a:srgbClr val="FF0000"/>
                          </a:solidFill>
                          <a:highlight>
                            <a:srgbClr val="C0C0C0"/>
                          </a:highlight>
                          <a:latin typeface="Calibri"/>
                          <a:ea typeface="Calibri"/>
                        </a:rPr>
                        <a:t>-</a:t>
                      </a:r>
                    </a:p>
                  </a:txBody>
                  <a:tcPr marL="91080" marR="91080" anchor="ctr">
                    <a:lnL w="9360">
                      <a:solidFill>
                        <a:srgbClr val="FFFFFF"/>
                      </a:solidFill>
                    </a:lnL>
                    <a:lnR w="9360">
                      <a:solidFill>
                        <a:srgbClr val="FFFFFF"/>
                      </a:solidFill>
                    </a:lnR>
                    <a:lnT w="9360">
                      <a:solidFill>
                        <a:srgbClr val="FFFFFF"/>
                      </a:solidFill>
                    </a:lnT>
                    <a:lnB w="936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700" b="1" strike="noStrike" spc="-1" dirty="0">
                          <a:solidFill>
                            <a:srgbClr val="FF0000"/>
                          </a:solidFill>
                          <a:highlight>
                            <a:srgbClr val="C0C0C0"/>
                          </a:highlight>
                          <a:latin typeface="Calibri"/>
                          <a:ea typeface="Calibri"/>
                        </a:rPr>
                        <a:t>-</a:t>
                      </a:r>
                    </a:p>
                  </a:txBody>
                  <a:tcPr marL="91080" marR="91080" anchor="ctr">
                    <a:lnL w="9360">
                      <a:solidFill>
                        <a:srgbClr val="FFFFFF"/>
                      </a:solidFill>
                    </a:lnL>
                    <a:lnR w="9360">
                      <a:solidFill>
                        <a:srgbClr val="FFFFFF"/>
                      </a:solidFill>
                    </a:lnR>
                    <a:lnT w="9360">
                      <a:solidFill>
                        <a:srgbClr val="FFFFFF"/>
                      </a:solidFill>
                    </a:lnT>
                    <a:lnB w="936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  <a:tabLst>
                          <a:tab pos="0" algn="l"/>
                        </a:tabLst>
                      </a:pPr>
                      <a:r>
                        <a:rPr lang="pt-BR" sz="1700" b="1" strike="noStrike" spc="-1" dirty="0">
                          <a:solidFill>
                            <a:srgbClr val="FF0000"/>
                          </a:solidFill>
                          <a:highlight>
                            <a:srgbClr val="C0C0C0"/>
                          </a:highlight>
                          <a:latin typeface="Calibri"/>
                          <a:ea typeface="Calibri"/>
                        </a:rPr>
                        <a:t>00:00</a:t>
                      </a:r>
                    </a:p>
                  </a:txBody>
                  <a:tcPr marL="91080" marR="91080" anchor="ctr">
                    <a:lnL w="9360">
                      <a:solidFill>
                        <a:srgbClr val="FFFFFF"/>
                      </a:solidFill>
                    </a:lnL>
                    <a:lnR w="9360">
                      <a:solidFill>
                        <a:srgbClr val="FFFFFF"/>
                      </a:solidFill>
                    </a:lnR>
                    <a:lnT w="9360">
                      <a:solidFill>
                        <a:srgbClr val="FFFFFF"/>
                      </a:solidFill>
                    </a:lnT>
                    <a:lnB w="936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BR" sz="1700" b="1" strike="noStrike" spc="-1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</a:rPr>
                        <a:t>00:00</a:t>
                      </a:r>
                    </a:p>
                  </a:txBody>
                  <a:tcPr marL="91080" marR="91080" anchor="ctr">
                    <a:lnL w="9360">
                      <a:solidFill>
                        <a:srgbClr val="FFFFFF"/>
                      </a:solidFill>
                    </a:lnL>
                    <a:lnR w="9360">
                      <a:solidFill>
                        <a:srgbClr val="FFFFFF"/>
                      </a:solidFill>
                    </a:lnR>
                    <a:lnT w="9360">
                      <a:solidFill>
                        <a:srgbClr val="FFFFFF"/>
                      </a:solidFill>
                    </a:lnT>
                    <a:lnB w="936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5573078"/>
                  </a:ext>
                </a:extLst>
              </a:tr>
              <a:tr h="77782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pt-BR" sz="18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Total</a:t>
                      </a:r>
                      <a:endParaRPr lang="pt-BR" sz="18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pt-BR" sz="1700" b="1" strike="noStrike" spc="-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00:10:00</a:t>
                      </a:r>
                      <a:endParaRPr lang="pt-BR" sz="17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936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700" b="1" strike="noStrike" spc="-1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</a:rPr>
                        <a:t>00:39:30</a:t>
                      </a:r>
                      <a:endParaRPr lang="pt-BR" sz="17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 anchor="ctr">
                    <a:lnL w="9360">
                      <a:solidFill>
                        <a:srgbClr val="FFFFFF"/>
                      </a:solidFill>
                    </a:lnL>
                    <a:lnR w="9360">
                      <a:solidFill>
                        <a:srgbClr val="FFFFFF"/>
                      </a:solidFill>
                    </a:lnR>
                    <a:lnT w="9360">
                      <a:solidFill>
                        <a:srgbClr val="FFFFFF"/>
                      </a:solidFill>
                    </a:lnT>
                    <a:lnB w="9360">
                      <a:solidFill>
                        <a:srgbClr val="FFFFFF"/>
                      </a:solidFill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700" b="1" strike="noStrike" spc="-1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</a:rPr>
                        <a:t>00:28:36</a:t>
                      </a:r>
                      <a:endParaRPr lang="pt-BR" sz="17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 anchor="ctr">
                    <a:lnL w="9360">
                      <a:solidFill>
                        <a:srgbClr val="FFFFFF"/>
                      </a:solidFill>
                    </a:lnL>
                    <a:lnR w="9360">
                      <a:solidFill>
                        <a:srgbClr val="FFFFFF"/>
                      </a:solidFill>
                    </a:lnR>
                    <a:lnT w="9360">
                      <a:solidFill>
                        <a:srgbClr val="FFFFFF"/>
                      </a:solidFill>
                    </a:lnT>
                    <a:lnB w="9360">
                      <a:solidFill>
                        <a:srgbClr val="FFFFFF"/>
                      </a:solidFill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  <a:tabLst>
                          <a:tab pos="0" algn="l"/>
                        </a:tabLst>
                      </a:pPr>
                      <a:r>
                        <a:rPr lang="pt-BR" sz="1700" b="1" strike="noStrike" spc="-1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</a:rPr>
                        <a:t>00:30:18</a:t>
                      </a:r>
                      <a:endParaRPr lang="pt-BR" dirty="0"/>
                    </a:p>
                  </a:txBody>
                  <a:tcPr marL="91080" marR="91080" anchor="ctr">
                    <a:lnL w="9360">
                      <a:solidFill>
                        <a:srgbClr val="FFFFFF"/>
                      </a:solidFill>
                    </a:lnL>
                    <a:lnR w="9360">
                      <a:solidFill>
                        <a:srgbClr val="FFFFFF"/>
                      </a:solidFill>
                    </a:lnR>
                    <a:lnT w="9360">
                      <a:solidFill>
                        <a:srgbClr val="FFFFFF"/>
                      </a:solidFill>
                    </a:lnT>
                    <a:lnB w="936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700" b="1" strike="noStrike" spc="-1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</a:rPr>
                        <a:t>00:29:33</a:t>
                      </a:r>
                    </a:p>
                  </a:txBody>
                  <a:tcPr marL="91080" marR="91080" anchor="ctr">
                    <a:lnL w="9360">
                      <a:solidFill>
                        <a:srgbClr val="FFFFFF"/>
                      </a:solidFill>
                    </a:lnL>
                    <a:lnR w="9360">
                      <a:solidFill>
                        <a:srgbClr val="FFFFFF"/>
                      </a:solidFill>
                    </a:lnR>
                    <a:lnT w="9360">
                      <a:solidFill>
                        <a:srgbClr val="FFFFFF"/>
                      </a:solidFill>
                    </a:lnT>
                    <a:lnB w="936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149;p6"/>
          <p:cNvPicPr/>
          <p:nvPr/>
        </p:nvPicPr>
        <p:blipFill>
          <a:blip r:embed="rId2"/>
          <a:srcRect r="65499"/>
          <a:stretch/>
        </p:blipFill>
        <p:spPr>
          <a:xfrm>
            <a:off x="-185760" y="0"/>
            <a:ext cx="3514320" cy="6857640"/>
          </a:xfrm>
          <a:prstGeom prst="rect">
            <a:avLst/>
          </a:prstGeom>
          <a:ln w="0">
            <a:noFill/>
          </a:ln>
        </p:spPr>
      </p:pic>
      <p:pic>
        <p:nvPicPr>
          <p:cNvPr id="219" name="Google Shape;150;p6"/>
          <p:cNvPicPr/>
          <p:nvPr/>
        </p:nvPicPr>
        <p:blipFill>
          <a:blip r:embed="rId3"/>
          <a:stretch/>
        </p:blipFill>
        <p:spPr>
          <a:xfrm>
            <a:off x="198360" y="5899320"/>
            <a:ext cx="1904760" cy="738000"/>
          </a:xfrm>
          <a:prstGeom prst="rect">
            <a:avLst/>
          </a:prstGeom>
          <a:ln w="0">
            <a:noFill/>
          </a:ln>
        </p:spPr>
      </p:pic>
      <p:sp>
        <p:nvSpPr>
          <p:cNvPr id="220" name="Google Shape;151;p6"/>
          <p:cNvSpPr/>
          <p:nvPr/>
        </p:nvSpPr>
        <p:spPr>
          <a:xfrm>
            <a:off x="428760" y="284040"/>
            <a:ext cx="8494200" cy="763200"/>
          </a:xfrm>
          <a:prstGeom prst="homePlate">
            <a:avLst>
              <a:gd name="adj" fmla="val 21200"/>
            </a:avLst>
          </a:prstGeom>
          <a:solidFill>
            <a:srgbClr val="B33259"/>
          </a:solidFill>
          <a:ln w="0">
            <a:noFill/>
          </a:ln>
          <a:effectLst>
            <a:outerShdw blurRad="63360" sx="102000" sy="102000">
              <a:srgbClr val="000000">
                <a:alpha val="3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br>
              <a:rPr sz="2000"/>
            </a:br>
            <a:r>
              <a:rPr lang="pt-BR" sz="2000" b="1" strike="noStrike" spc="-1">
                <a:solidFill>
                  <a:srgbClr val="FFFFFF"/>
                </a:solidFill>
                <a:latin typeface="Calibri"/>
                <a:ea typeface="Calibri"/>
              </a:rPr>
              <a:t>TEMPO MÉDIO DE ESPERA PARA PACIENTES CLASSIFICADOS COM RISCO VERDE</a:t>
            </a:r>
            <a:endParaRPr lang="pt-BR" sz="20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21" name="Google Shape;152;p6"/>
          <p:cNvGraphicFramePr/>
          <p:nvPr>
            <p:extLst>
              <p:ext uri="{D42A27DB-BD31-4B8C-83A1-F6EECF244321}">
                <p14:modId xmlns:p14="http://schemas.microsoft.com/office/powerpoint/2010/main" val="3977567266"/>
              </p:ext>
            </p:extLst>
          </p:nvPr>
        </p:nvGraphicFramePr>
        <p:xfrm>
          <a:off x="2835624" y="926872"/>
          <a:ext cx="7835758" cy="5876723"/>
        </p:xfrm>
        <a:graphic>
          <a:graphicData uri="http://schemas.openxmlformats.org/drawingml/2006/table">
            <a:tbl>
              <a:tblPr/>
              <a:tblGrid>
                <a:gridCol w="17416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0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939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510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6251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pt-BR" sz="2300" b="1" strike="noStrike" spc="-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Unidade</a:t>
                      </a:r>
                      <a:endParaRPr lang="pt-BR" sz="23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B311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pt-BR" sz="2300" b="1" strike="noStrike" spc="-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Meta</a:t>
                      </a:r>
                      <a:endParaRPr lang="pt-BR" sz="23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B3116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4999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2100" b="1" strike="noStrike" spc="-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Julho 23</a:t>
                      </a:r>
                      <a:endParaRPr lang="pt-BR" sz="21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B3116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4999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2000" b="1" strike="noStrike" spc="-1">
                          <a:solidFill>
                            <a:schemeClr val="lt1"/>
                          </a:solidFill>
                          <a:latin typeface="Calibri"/>
                          <a:ea typeface="Calibri"/>
                        </a:rPr>
                        <a:t>Agosto 23</a:t>
                      </a:r>
                      <a:endParaRPr lang="pt-BR" sz="2000" b="0" strike="noStrike" spc="-1">
                        <a:solidFill>
                          <a:schemeClr val="lt1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B3116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4999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2000" b="1" strike="noStrike" spc="-1">
                          <a:solidFill>
                            <a:schemeClr val="lt1"/>
                          </a:solidFill>
                          <a:latin typeface="Calibri"/>
                          <a:ea typeface="Calibri"/>
                        </a:rPr>
                        <a:t>Setembro 23</a:t>
                      </a:r>
                      <a:endParaRPr lang="pt-BR" sz="20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B311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pt-BR" sz="2000" b="1" strike="noStrike" spc="-1">
                          <a:solidFill>
                            <a:schemeClr val="lt1"/>
                          </a:solidFill>
                          <a:latin typeface="Calibri"/>
                          <a:ea typeface="Calibri"/>
                        </a:rPr>
                        <a:t>Outubro 23</a:t>
                      </a: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B311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064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pt-BR" sz="1800" b="1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UPA JK</a:t>
                      </a:r>
                      <a:endParaRPr lang="pt-BR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pt-BR" sz="1700" b="1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02:00:00</a:t>
                      </a:r>
                      <a:endParaRPr lang="pt-BR" sz="17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700" b="1" strike="noStrike" spc="-1">
                          <a:solidFill>
                            <a:srgbClr val="FF0000"/>
                          </a:solidFill>
                          <a:latin typeface="Calibri"/>
                          <a:ea typeface="Calibri"/>
                        </a:rPr>
                        <a:t>02:29:08</a:t>
                      </a:r>
                      <a:endParaRPr lang="pt-BR" sz="17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700" b="1" strike="noStrike" spc="-1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01:47:28</a:t>
                      </a:r>
                      <a:endParaRPr lang="pt-BR" sz="17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  <a:tabLst>
                          <a:tab pos="0" algn="l"/>
                        </a:tabLst>
                      </a:pPr>
                      <a:r>
                        <a:rPr lang="pt-BR" sz="1700" b="1" strike="noStrike" spc="-1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01:44:35</a:t>
                      </a:r>
                      <a:endParaRPr lang="pt-BR"/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700" b="1" strike="noStrike" spc="-1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01:27:50</a:t>
                      </a: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221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pt-BR" sz="1800" b="1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UPA Vargem das Flores</a:t>
                      </a:r>
                      <a:endParaRPr lang="pt-BR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pt-BR" sz="1700" b="1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02:00:00</a:t>
                      </a:r>
                      <a:endParaRPr lang="pt-BR" sz="17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700" b="1" strike="noStrike" spc="-1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01:16:27</a:t>
                      </a:r>
                      <a:endParaRPr lang="pt-BR" sz="17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700" b="1" strike="noStrike" spc="-1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01:05:27</a:t>
                      </a:r>
                      <a:endParaRPr lang="pt-BR" sz="17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  <a:tabLst>
                          <a:tab pos="0" algn="l"/>
                        </a:tabLst>
                      </a:pPr>
                      <a:r>
                        <a:rPr lang="pt-BR" sz="1700" b="1" strike="noStrike" spc="-1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01:09:00</a:t>
                      </a:r>
                      <a:endParaRPr lang="pt-BR"/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700" b="1" strike="noStrike" spc="-1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01:04:14</a:t>
                      </a: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8691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pt-BR" sz="1800" b="1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UPA Ressaca</a:t>
                      </a:r>
                      <a:endParaRPr lang="pt-BR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pt-BR" sz="1700" b="1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02:00:00</a:t>
                      </a:r>
                      <a:endParaRPr lang="pt-BR" sz="17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700" b="1" strike="noStrike" spc="-1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01:57:30</a:t>
                      </a:r>
                      <a:endParaRPr lang="pt-BR" sz="17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700" b="1" strike="noStrike" spc="-1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01:23:59</a:t>
                      </a:r>
                      <a:endParaRPr lang="pt-BR" sz="17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  <a:tabLst>
                          <a:tab pos="0" algn="l"/>
                        </a:tabLst>
                      </a:pPr>
                      <a:r>
                        <a:rPr lang="pt-BR" sz="1700" b="1" strike="noStrike" spc="-1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01:03:35</a:t>
                      </a:r>
                      <a:endParaRPr lang="pt-BR"/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700" b="1" strike="noStrike" spc="-1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01:12:56</a:t>
                      </a: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2503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pt-BR" sz="1800" b="1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UPA Petrolândia</a:t>
                      </a:r>
                      <a:endParaRPr lang="pt-BR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pt-BR" sz="1700" b="1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02:00:00</a:t>
                      </a:r>
                      <a:endParaRPr lang="pt-BR" sz="17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700" b="1" strike="noStrike" spc="-1">
                          <a:solidFill>
                            <a:srgbClr val="FF0000"/>
                          </a:solidFill>
                          <a:latin typeface="Calibri"/>
                          <a:ea typeface="Calibri"/>
                        </a:rPr>
                        <a:t>02:44:00</a:t>
                      </a:r>
                      <a:endParaRPr lang="pt-BR" sz="17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700" b="1" strike="noStrike" spc="-1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01:42:01</a:t>
                      </a:r>
                      <a:endParaRPr lang="pt-BR" sz="17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  <a:tabLst>
                          <a:tab pos="0" algn="l"/>
                        </a:tabLst>
                      </a:pPr>
                      <a:r>
                        <a:rPr lang="pt-BR" sz="1700" b="1" strike="noStrike" spc="-1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01:27:47</a:t>
                      </a:r>
                      <a:endParaRPr lang="pt-BR"/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700" b="1" strike="noStrike" spc="-1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01:12:45</a:t>
                      </a: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25032">
                <a:tc>
                  <a:txBody>
                    <a:bodyPr/>
                    <a:lstStyle/>
                    <a:p>
                      <a:pPr lvl="0" algn="ctr">
                        <a:lnSpc>
                          <a:spcPct val="114999"/>
                        </a:lnSpc>
                        <a:buNone/>
                      </a:pPr>
                      <a:r>
                        <a:rPr lang="pt-BR" sz="1800" b="1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UPA Industrial</a:t>
                      </a: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4999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700" b="1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02:00:00</a:t>
                      </a: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700" b="1" strike="noStrike" spc="-1">
                          <a:solidFill>
                            <a:srgbClr val="FF0000"/>
                          </a:solidFill>
                          <a:latin typeface="Calibri"/>
                          <a:ea typeface="Calibri"/>
                        </a:rPr>
                        <a:t>-</a:t>
                      </a: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700" b="1" strike="noStrike" spc="-1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-</a:t>
                      </a: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  <a:tabLst>
                          <a:tab pos="0" algn="l"/>
                        </a:tabLst>
                      </a:pPr>
                      <a:r>
                        <a:rPr lang="pt-BR" sz="1700" b="1" strike="noStrike" spc="-1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01:00</a:t>
                      </a: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BR" sz="1700" b="1" strike="noStrike" spc="-1">
                          <a:solidFill>
                            <a:srgbClr val="FF0000"/>
                          </a:solidFill>
                          <a:latin typeface="Calibri"/>
                          <a:ea typeface="Calibri"/>
                        </a:rPr>
                        <a:t>02:29</a:t>
                      </a: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7484130"/>
                  </a:ext>
                </a:extLst>
              </a:tr>
              <a:tr h="109847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pt-BR" sz="1800" b="1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Total</a:t>
                      </a:r>
                      <a:endParaRPr lang="pt-BR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pt-BR" sz="1700" b="1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02:00:00</a:t>
                      </a:r>
                      <a:endParaRPr lang="pt-BR" sz="17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700" b="1" strike="noStrike" spc="-1">
                          <a:solidFill>
                            <a:srgbClr val="FF0000"/>
                          </a:solidFill>
                          <a:latin typeface="Calibri"/>
                          <a:ea typeface="Calibri"/>
                        </a:rPr>
                        <a:t>02:06:46</a:t>
                      </a:r>
                      <a:endParaRPr lang="pt-BR" sz="17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700" b="1" strike="noStrike" spc="-1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01:29:44</a:t>
                      </a:r>
                      <a:endParaRPr lang="pt-BR" sz="17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  <a:tabLst>
                          <a:tab pos="0" algn="l"/>
                        </a:tabLst>
                      </a:pPr>
                      <a:r>
                        <a:rPr lang="pt-BR" sz="1700" b="1" strike="noStrike" spc="-1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01:21:14</a:t>
                      </a:r>
                      <a:endParaRPr lang="pt-BR"/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700" b="1" strike="noStrike" spc="-1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01:29:21</a:t>
                      </a: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6B8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140;p7"/>
          <p:cNvPicPr/>
          <p:nvPr/>
        </p:nvPicPr>
        <p:blipFill>
          <a:blip r:embed="rId2"/>
          <a:srcRect r="65499"/>
          <a:stretch/>
        </p:blipFill>
        <p:spPr>
          <a:xfrm>
            <a:off x="0" y="0"/>
            <a:ext cx="3514320" cy="6857640"/>
          </a:xfrm>
          <a:prstGeom prst="rect">
            <a:avLst/>
          </a:prstGeom>
          <a:ln w="0">
            <a:noFill/>
          </a:ln>
        </p:spPr>
      </p:pic>
      <p:pic>
        <p:nvPicPr>
          <p:cNvPr id="214" name="Google Shape;141;p7"/>
          <p:cNvPicPr/>
          <p:nvPr/>
        </p:nvPicPr>
        <p:blipFill>
          <a:blip r:embed="rId3"/>
          <a:stretch/>
        </p:blipFill>
        <p:spPr>
          <a:xfrm>
            <a:off x="198360" y="5899320"/>
            <a:ext cx="1904760" cy="738000"/>
          </a:xfrm>
          <a:prstGeom prst="rect">
            <a:avLst/>
          </a:prstGeom>
          <a:ln w="0">
            <a:noFill/>
          </a:ln>
        </p:spPr>
      </p:pic>
      <p:sp>
        <p:nvSpPr>
          <p:cNvPr id="215" name="Google Shape;142;p7"/>
          <p:cNvSpPr/>
          <p:nvPr/>
        </p:nvSpPr>
        <p:spPr>
          <a:xfrm>
            <a:off x="366840" y="84240"/>
            <a:ext cx="8496000" cy="763200"/>
          </a:xfrm>
          <a:prstGeom prst="homePlate">
            <a:avLst>
              <a:gd name="adj" fmla="val 21200"/>
            </a:avLst>
          </a:prstGeom>
          <a:solidFill>
            <a:srgbClr val="B33259"/>
          </a:solidFill>
          <a:ln w="0">
            <a:noFill/>
          </a:ln>
          <a:effectLst>
            <a:outerShdw blurRad="63360" sx="102000" sy="102000">
              <a:srgbClr val="000000">
                <a:alpha val="3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2000" b="1" strike="noStrike" spc="-1">
                <a:solidFill>
                  <a:srgbClr val="FFFFFF"/>
                </a:solidFill>
                <a:latin typeface="Calibri"/>
                <a:ea typeface="Calibri"/>
              </a:rPr>
              <a:t>TEMPO MÉDIO DE ESPERA PARA PACIENTES CLASSIFICADOS COM RISCO AMARELO</a:t>
            </a:r>
            <a:endParaRPr lang="pt-BR" sz="2000" b="0" strike="noStrike" spc="-1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16" name="Google Shape;143;p7"/>
          <p:cNvGraphicFramePr/>
          <p:nvPr>
            <p:extLst>
              <p:ext uri="{D42A27DB-BD31-4B8C-83A1-F6EECF244321}">
                <p14:modId xmlns:p14="http://schemas.microsoft.com/office/powerpoint/2010/main" val="2950055296"/>
              </p:ext>
            </p:extLst>
          </p:nvPr>
        </p:nvGraphicFramePr>
        <p:xfrm>
          <a:off x="3404419" y="675967"/>
          <a:ext cx="7924212" cy="6181574"/>
        </p:xfrm>
        <a:graphic>
          <a:graphicData uri="http://schemas.openxmlformats.org/drawingml/2006/table">
            <a:tbl>
              <a:tblPr/>
              <a:tblGrid>
                <a:gridCol w="16098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38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7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11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264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219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3727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pt-BR" sz="2300" b="1" strike="noStrike" spc="-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Unidade</a:t>
                      </a:r>
                      <a:endParaRPr lang="pt-BR" sz="23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B311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pt-BR" sz="2300" b="1" strike="noStrike" spc="-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Meta</a:t>
                      </a:r>
                      <a:endParaRPr lang="pt-BR" sz="23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B3116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4999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2100" b="1" strike="noStrike" spc="-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Julho 23</a:t>
                      </a:r>
                      <a:endParaRPr lang="pt-BR" sz="21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B3116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4999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spc="-1" dirty="0">
                          <a:solidFill>
                            <a:schemeClr val="lt1"/>
                          </a:solidFill>
                          <a:latin typeface="Calibri"/>
                          <a:ea typeface="Calibri"/>
                        </a:rPr>
                        <a:t>AGOSTO 23</a:t>
                      </a:r>
                      <a:endParaRPr lang="pt-BR" sz="1600" b="0" strike="noStrike" spc="-1" dirty="0">
                        <a:solidFill>
                          <a:schemeClr val="lt1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B3116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4999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spc="-1" dirty="0">
                          <a:solidFill>
                            <a:schemeClr val="lt1"/>
                          </a:solidFill>
                          <a:latin typeface="Calibri"/>
                          <a:ea typeface="Calibri"/>
                        </a:rPr>
                        <a:t>SETEMBRO 23</a:t>
                      </a:r>
                      <a:endParaRPr lang="pt-BR" sz="16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B311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pt-BR" sz="1600" b="1" strike="noStrike" spc="-1" dirty="0">
                          <a:solidFill>
                            <a:schemeClr val="lt1"/>
                          </a:solidFill>
                          <a:latin typeface="Calibri"/>
                          <a:ea typeface="Calibri"/>
                        </a:rPr>
                        <a:t>Outubro 23</a:t>
                      </a: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B311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198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pt-BR" sz="18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UPA JK</a:t>
                      </a:r>
                      <a:endParaRPr lang="pt-BR" sz="18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pt-BR" sz="17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01:00:00</a:t>
                      </a:r>
                      <a:endParaRPr lang="pt-BR" sz="17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700" b="1" strike="noStrike" spc="-1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</a:rPr>
                        <a:t>01:45:17</a:t>
                      </a:r>
                      <a:endParaRPr lang="pt-BR" sz="17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700" b="1" strike="noStrike" spc="-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00:56:50</a:t>
                      </a:r>
                      <a:endParaRPr lang="pt-BR" sz="17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  <a:tabLst>
                          <a:tab pos="0" algn="l"/>
                        </a:tabLst>
                      </a:pPr>
                      <a:r>
                        <a:rPr lang="pt-BR" sz="1700" b="1" strike="noStrike" spc="-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01:02:35</a:t>
                      </a:r>
                      <a:endParaRPr lang="pt-BR" dirty="0"/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700" b="1" strike="noStrike" spc="-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00:58:26</a:t>
                      </a: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198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pt-BR" sz="1800" b="1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UPA Vargem das Flores</a:t>
                      </a:r>
                      <a:endParaRPr lang="pt-BR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pt-BR" sz="17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01:00:00</a:t>
                      </a:r>
                      <a:endParaRPr lang="pt-BR" sz="17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700" b="1" strike="noStrike" spc="-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00:14:01</a:t>
                      </a:r>
                      <a:endParaRPr lang="pt-BR" sz="17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700" b="1" strike="noStrike" spc="-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00:24:26</a:t>
                      </a:r>
                      <a:endParaRPr lang="pt-BR" sz="17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  <a:tabLst>
                          <a:tab pos="0" algn="l"/>
                        </a:tabLst>
                      </a:pPr>
                      <a:r>
                        <a:rPr lang="pt-BR" sz="1700" b="1" strike="noStrike" spc="-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00:24:13</a:t>
                      </a:r>
                      <a:endParaRPr lang="pt-BR" dirty="0"/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700" b="1" strike="noStrike" spc="-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00:26:22</a:t>
                      </a: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343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pt-BR" sz="18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UPA Ressaca</a:t>
                      </a:r>
                      <a:endParaRPr lang="pt-BR" sz="18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pt-BR" sz="17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01:00:00</a:t>
                      </a:r>
                      <a:endParaRPr lang="pt-BR" sz="17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700" b="1" strike="noStrike" spc="-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00:39:48</a:t>
                      </a:r>
                      <a:endParaRPr lang="pt-BR" sz="17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700" b="1" strike="noStrike" spc="-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00:36:18</a:t>
                      </a:r>
                      <a:endParaRPr lang="pt-BR" sz="17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  <a:tabLst>
                          <a:tab pos="0" algn="l"/>
                        </a:tabLst>
                      </a:pPr>
                      <a:r>
                        <a:rPr lang="pt-BR" sz="1700" b="1" strike="noStrike" spc="-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00:30:37</a:t>
                      </a:r>
                      <a:endParaRPr lang="pt-BR" dirty="0"/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700" b="1" strike="noStrike" spc="-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00:30:31</a:t>
                      </a: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3238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pt-BR" sz="1800" b="1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UPA Petrolândia</a:t>
                      </a:r>
                      <a:endParaRPr lang="pt-BR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pt-BR" sz="17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01:00:00</a:t>
                      </a:r>
                      <a:endParaRPr lang="pt-BR" sz="17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700" b="1" strike="noStrike" spc="-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00:39:23</a:t>
                      </a:r>
                      <a:endParaRPr lang="pt-BR" sz="17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700" b="1" strike="noStrike" spc="-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00:28:18</a:t>
                      </a:r>
                      <a:endParaRPr lang="pt-BR" sz="17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  <a:tabLst>
                          <a:tab pos="0" algn="l"/>
                        </a:tabLst>
                      </a:pPr>
                      <a:r>
                        <a:rPr lang="pt-BR" sz="1700" b="1" strike="noStrike" spc="-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00:24:02</a:t>
                      </a:r>
                      <a:endParaRPr lang="pt-BR" dirty="0"/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700" b="1" strike="noStrike" spc="-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00:24:17</a:t>
                      </a: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32387">
                <a:tc>
                  <a:txBody>
                    <a:bodyPr/>
                    <a:lstStyle/>
                    <a:p>
                      <a:pPr lvl="0" algn="ctr">
                        <a:lnSpc>
                          <a:spcPct val="114999"/>
                        </a:lnSpc>
                        <a:buNone/>
                      </a:pPr>
                      <a:r>
                        <a:rPr lang="pt-BR" sz="18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UPA Industrial</a:t>
                      </a: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4999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7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01:00:00</a:t>
                      </a: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700" b="1" strike="noStrike" spc="-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-</a:t>
                      </a: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700" b="1" strike="noStrike" spc="-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-</a:t>
                      </a: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  <a:tabLst>
                          <a:tab pos="0" algn="l"/>
                        </a:tabLst>
                      </a:pPr>
                      <a:r>
                        <a:rPr lang="pt-BR" sz="1700" b="1" strike="noStrike" spc="-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00:30</a:t>
                      </a: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BR" sz="1700" b="1" strike="noStrike" spc="-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00:40</a:t>
                      </a: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9014944"/>
                  </a:ext>
                </a:extLst>
              </a:tr>
              <a:tr h="84120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pt-BR" sz="18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Total</a:t>
                      </a:r>
                      <a:endParaRPr lang="pt-BR" sz="18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pt-BR" sz="17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01:00:00</a:t>
                      </a:r>
                      <a:endParaRPr lang="pt-BR" sz="17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700" b="1" strike="noStrike" spc="-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00:49:37</a:t>
                      </a:r>
                      <a:endParaRPr lang="pt-BR" sz="17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700" b="1" strike="noStrike" spc="-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00:36:28</a:t>
                      </a:r>
                      <a:endParaRPr lang="pt-BR" sz="17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  <a:tabLst>
                          <a:tab pos="0" algn="l"/>
                        </a:tabLst>
                      </a:pPr>
                      <a:r>
                        <a:rPr lang="pt-BR" sz="1700" b="1" strike="noStrike" spc="-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00:35:22</a:t>
                      </a:r>
                      <a:endParaRPr lang="pt-BR" dirty="0"/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700" b="1" strike="noStrike" spc="-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00:35:55</a:t>
                      </a: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6B8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158;p11"/>
          <p:cNvPicPr/>
          <p:nvPr/>
        </p:nvPicPr>
        <p:blipFill>
          <a:blip r:embed="rId2"/>
          <a:srcRect r="65499"/>
          <a:stretch/>
        </p:blipFill>
        <p:spPr>
          <a:xfrm>
            <a:off x="-195120" y="0"/>
            <a:ext cx="2074680" cy="6857640"/>
          </a:xfrm>
          <a:prstGeom prst="rect">
            <a:avLst/>
          </a:prstGeom>
          <a:ln w="0">
            <a:noFill/>
          </a:ln>
        </p:spPr>
      </p:pic>
      <p:pic>
        <p:nvPicPr>
          <p:cNvPr id="224" name="Google Shape;159;p11"/>
          <p:cNvPicPr/>
          <p:nvPr/>
        </p:nvPicPr>
        <p:blipFill>
          <a:blip r:embed="rId3"/>
          <a:stretch/>
        </p:blipFill>
        <p:spPr>
          <a:xfrm>
            <a:off x="0" y="5884920"/>
            <a:ext cx="1904760" cy="738000"/>
          </a:xfrm>
          <a:prstGeom prst="rect">
            <a:avLst/>
          </a:prstGeom>
          <a:ln w="0">
            <a:noFill/>
          </a:ln>
        </p:spPr>
      </p:pic>
      <p:sp>
        <p:nvSpPr>
          <p:cNvPr id="225" name="Google Shape;160;p11"/>
          <p:cNvSpPr/>
          <p:nvPr/>
        </p:nvSpPr>
        <p:spPr>
          <a:xfrm>
            <a:off x="50760" y="31680"/>
            <a:ext cx="9686520" cy="933120"/>
          </a:xfrm>
          <a:prstGeom prst="homePlate">
            <a:avLst>
              <a:gd name="adj" fmla="val 21159"/>
            </a:avLst>
          </a:prstGeom>
          <a:solidFill>
            <a:srgbClr val="B33259"/>
          </a:solidFill>
          <a:ln w="0">
            <a:noFill/>
          </a:ln>
          <a:effectLst>
            <a:outerShdw blurRad="63360" sx="102000" sy="102000">
              <a:srgbClr val="000000">
                <a:alpha val="3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2000" b="1" strike="noStrike" spc="-1">
                <a:solidFill>
                  <a:srgbClr val="FFFFFF"/>
                </a:solidFill>
                <a:latin typeface="Calibri"/>
                <a:ea typeface="Calibri"/>
              </a:rPr>
              <a:t>PERCENTUAL DE PROFISSIONAIS COM MÉDIA DE 30 MINUTOS DE CAPACITAÇÃO</a:t>
            </a:r>
            <a:endParaRPr lang="pt-BR" sz="2000" b="0" strike="noStrike" spc="-1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26" name="Google Shape;161;p11"/>
          <p:cNvGraphicFramePr/>
          <p:nvPr>
            <p:extLst>
              <p:ext uri="{D42A27DB-BD31-4B8C-83A1-F6EECF244321}">
                <p14:modId xmlns:p14="http://schemas.microsoft.com/office/powerpoint/2010/main" val="1202845958"/>
              </p:ext>
            </p:extLst>
          </p:nvPr>
        </p:nvGraphicFramePr>
        <p:xfrm>
          <a:off x="1899728" y="634928"/>
          <a:ext cx="9020160" cy="5944320"/>
        </p:xfrm>
        <a:graphic>
          <a:graphicData uri="http://schemas.openxmlformats.org/drawingml/2006/table">
            <a:tbl>
              <a:tblPr/>
              <a:tblGrid>
                <a:gridCol w="285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3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91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91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93080">
                <a:tc>
                  <a:txBody>
                    <a:bodyPr/>
                    <a:lstStyle/>
                    <a:p>
                      <a:pPr marL="228600" algn="ctr"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pt-BR" sz="2200" b="1" strike="noStrike" spc="-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Unidade</a:t>
                      </a:r>
                      <a:endParaRPr lang="pt-BR" sz="22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B3116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4999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2000" b="1" strike="noStrike" spc="-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Julho 2023</a:t>
                      </a:r>
                      <a:endParaRPr lang="pt-BR" sz="20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B3116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4999"/>
                        </a:lnSpc>
                        <a:buNone/>
                      </a:pPr>
                      <a:r>
                        <a:rPr lang="pt-BR" sz="2000" b="1" strike="noStrike" spc="-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Agosto 23</a:t>
                      </a:r>
                      <a:endParaRPr lang="pt-BR" sz="20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B3116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4999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2000" b="1" strike="noStrike" spc="-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Setembro 23</a:t>
                      </a:r>
                      <a:endParaRPr lang="pt-BR" sz="20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B311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pt-BR" sz="2000" b="1" strike="noStrike" spc="-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Outubro 23</a:t>
                      </a:r>
                      <a:endParaRPr lang="pt-BR" sz="20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B311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928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6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UPA JK  </a:t>
                      </a:r>
                      <a:endParaRPr lang="pt-BR" sz="16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6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(276 colaboradores no CNES) </a:t>
                      </a:r>
                      <a:endParaRPr lang="pt-BR" sz="16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 anchor="ctr">
                    <a:lnL w="12240">
                      <a:solidFill>
                        <a:srgbClr val="000000"/>
                      </a:solidFill>
                    </a:lnL>
                    <a:lnR w="38160">
                      <a:solidFill>
                        <a:srgbClr val="FFFFFF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872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62%</a:t>
                      </a:r>
                      <a:endParaRPr lang="pt-BR" sz="16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 anchor="ctr">
                    <a:lnL w="38160">
                      <a:solidFill>
                        <a:srgbClr val="FFFFFF"/>
                      </a:solidFill>
                    </a:lnL>
                    <a:lnR w="38160">
                      <a:solidFill>
                        <a:srgbClr val="FFFFFF"/>
                      </a:solidFill>
                    </a:lnR>
                    <a:lnT w="3816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96%</a:t>
                      </a:r>
                      <a:endParaRPr lang="pt-BR" sz="16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 anchor="ctr">
                    <a:lnL w="38160">
                      <a:solidFill>
                        <a:srgbClr val="FFFFFF"/>
                      </a:solidFill>
                    </a:lnL>
                    <a:lnR w="38160">
                      <a:solidFill>
                        <a:srgbClr val="FFFFFF"/>
                      </a:solidFill>
                    </a:lnR>
                    <a:lnT w="3816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BR" sz="16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        60%</a:t>
                      </a:r>
                      <a:endParaRPr lang="pt-BR" dirty="0"/>
                    </a:p>
                  </a:txBody>
                  <a:tcPr marL="91080" marR="91080" anchor="ctr">
                    <a:lnL w="38160">
                      <a:solidFill>
                        <a:srgbClr val="FFFFFF"/>
                      </a:solidFill>
                    </a:lnL>
                    <a:lnR w="38160">
                      <a:solidFill>
                        <a:srgbClr val="FFFFFF"/>
                      </a:solidFill>
                    </a:lnR>
                    <a:lnT w="3816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115%</a:t>
                      </a:r>
                    </a:p>
                  </a:txBody>
                  <a:tcPr marL="91080" marR="91080" anchor="ctr">
                    <a:lnL w="38160">
                      <a:solidFill>
                        <a:srgbClr val="FFFFFF"/>
                      </a:solidFill>
                    </a:lnL>
                    <a:lnR w="38160">
                      <a:solidFill>
                        <a:srgbClr val="FFFFFF"/>
                      </a:solidFill>
                    </a:lnR>
                    <a:lnT w="3816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928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6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UPA Vargem das Flores</a:t>
                      </a:r>
                      <a:endParaRPr lang="pt-BR" sz="16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6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(179 colaboradores no CNES)</a:t>
                      </a:r>
                      <a:endParaRPr lang="pt-BR" sz="16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 anchor="ctr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872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80%</a:t>
                      </a:r>
                      <a:endParaRPr lang="pt-BR" sz="16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75%</a:t>
                      </a:r>
                      <a:endParaRPr lang="pt-BR" dirty="0"/>
                    </a:p>
                  </a:txBody>
                  <a:tcPr marL="91080" marR="9108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BR" sz="16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75%</a:t>
                      </a:r>
                    </a:p>
                  </a:txBody>
                  <a:tcPr marL="91080" marR="9108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80%</a:t>
                      </a:r>
                    </a:p>
                  </a:txBody>
                  <a:tcPr marL="91080" marR="9108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928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6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UPA Ressaca </a:t>
                      </a:r>
                      <a:endParaRPr lang="pt-BR" sz="16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6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(211 colaboradores no CNES)</a:t>
                      </a:r>
                      <a:endParaRPr lang="pt-BR" sz="16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 anchor="ctr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52%</a:t>
                      </a:r>
                      <a:endParaRPr lang="pt-BR" sz="16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55%</a:t>
                      </a:r>
                      <a:endParaRPr lang="pt-BR" dirty="0"/>
                    </a:p>
                  </a:txBody>
                  <a:tcPr marL="91080" marR="9108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BR" sz="16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60%</a:t>
                      </a:r>
                    </a:p>
                  </a:txBody>
                  <a:tcPr marL="91080" marR="9108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60%</a:t>
                      </a:r>
                    </a:p>
                  </a:txBody>
                  <a:tcPr marL="91080" marR="9108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79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6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UPA Petrolândia </a:t>
                      </a:r>
                      <a:endParaRPr lang="pt-BR" sz="16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6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(157 cadastrados no CNES)</a:t>
                      </a:r>
                      <a:endParaRPr lang="pt-BR" sz="16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 anchor="ctr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74%</a:t>
                      </a:r>
                      <a:endParaRPr lang="pt-BR" sz="16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72%</a:t>
                      </a:r>
                      <a:endParaRPr lang="pt-BR" dirty="0"/>
                    </a:p>
                  </a:txBody>
                  <a:tcPr marL="91080" marR="9108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BR" sz="16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90%</a:t>
                      </a:r>
                    </a:p>
                  </a:txBody>
                  <a:tcPr marL="91080" marR="9108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78%</a:t>
                      </a:r>
                    </a:p>
                  </a:txBody>
                  <a:tcPr marL="91080" marR="9108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7920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</a:pPr>
                      <a:r>
                        <a:rPr lang="pt-BR" sz="16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UPA Industrial</a:t>
                      </a:r>
                    </a:p>
                  </a:txBody>
                  <a:tcPr marL="91080" marR="91080" anchor="ctr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-</a:t>
                      </a:r>
                    </a:p>
                  </a:txBody>
                  <a:tcPr marL="91080" marR="9108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-</a:t>
                      </a:r>
                    </a:p>
                  </a:txBody>
                  <a:tcPr marL="91080" marR="9108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BR" sz="16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60%</a:t>
                      </a:r>
                    </a:p>
                  </a:txBody>
                  <a:tcPr marL="91080" marR="9108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BR" sz="16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60%</a:t>
                      </a:r>
                    </a:p>
                  </a:txBody>
                  <a:tcPr marL="91080" marR="9108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8161122"/>
                  </a:ext>
                </a:extLst>
              </a:tr>
              <a:tr h="716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6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TOTAL GERAL</a:t>
                      </a:r>
                      <a:endParaRPr lang="pt-BR" sz="16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 anchor="ctr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67%</a:t>
                      </a:r>
                      <a:endParaRPr lang="pt-BR" sz="16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74%</a:t>
                      </a:r>
                      <a:endParaRPr lang="pt-BR" dirty="0"/>
                    </a:p>
                  </a:txBody>
                  <a:tcPr marL="91080" marR="9108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BR" sz="16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71%</a:t>
                      </a:r>
                    </a:p>
                  </a:txBody>
                  <a:tcPr marL="91080" marR="9108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b="1" strike="noStrike" spc="-1">
                        <a:solidFill>
                          <a:srgbClr val="000000"/>
                        </a:solidFill>
                        <a:latin typeface="Calibri"/>
                        <a:ea typeface="Calibri"/>
                      </a:endParaRPr>
                    </a:p>
                  </a:txBody>
                  <a:tcPr marL="91080" marR="9108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6B8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27" name="Google Shape;162;p11"/>
          <p:cNvSpPr/>
          <p:nvPr/>
        </p:nvSpPr>
        <p:spPr>
          <a:xfrm>
            <a:off x="1876529" y="6491613"/>
            <a:ext cx="5722560" cy="335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8480" bIns="16848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1100" b="1" strike="noStrike" spc="-1">
                <a:solidFill>
                  <a:srgbClr val="980000"/>
                </a:solidFill>
                <a:highlight>
                  <a:srgbClr val="FFFFFF"/>
                </a:highlight>
                <a:latin typeface="Arial"/>
                <a:ea typeface="Arial"/>
              </a:rPr>
              <a:t>FONTE: LISTAS DE PRESENÇA DE CAPACITAÇÕES/TREINAMENTOS</a:t>
            </a:r>
            <a:endParaRPr lang="pt-BR" sz="11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167;p9"/>
          <p:cNvPicPr/>
          <p:nvPr/>
        </p:nvPicPr>
        <p:blipFill>
          <a:blip r:embed="rId2"/>
          <a:srcRect r="65499"/>
          <a:stretch/>
        </p:blipFill>
        <p:spPr>
          <a:xfrm>
            <a:off x="0" y="0"/>
            <a:ext cx="3514320" cy="6857640"/>
          </a:xfrm>
          <a:prstGeom prst="rect">
            <a:avLst/>
          </a:prstGeom>
          <a:ln w="0">
            <a:noFill/>
          </a:ln>
        </p:spPr>
      </p:pic>
      <p:pic>
        <p:nvPicPr>
          <p:cNvPr id="229" name="Google Shape;168;p9"/>
          <p:cNvPicPr/>
          <p:nvPr/>
        </p:nvPicPr>
        <p:blipFill>
          <a:blip r:embed="rId3"/>
          <a:stretch/>
        </p:blipFill>
        <p:spPr>
          <a:xfrm>
            <a:off x="198360" y="5899320"/>
            <a:ext cx="1904760" cy="738000"/>
          </a:xfrm>
          <a:prstGeom prst="rect">
            <a:avLst/>
          </a:prstGeom>
          <a:ln w="0">
            <a:noFill/>
          </a:ln>
        </p:spPr>
      </p:pic>
      <p:sp>
        <p:nvSpPr>
          <p:cNvPr id="230" name="Google Shape;169;p9"/>
          <p:cNvSpPr/>
          <p:nvPr/>
        </p:nvSpPr>
        <p:spPr>
          <a:xfrm>
            <a:off x="282600" y="58680"/>
            <a:ext cx="8872200" cy="763200"/>
          </a:xfrm>
          <a:prstGeom prst="homePlate">
            <a:avLst>
              <a:gd name="adj" fmla="val 21216"/>
            </a:avLst>
          </a:prstGeom>
          <a:solidFill>
            <a:srgbClr val="B33259"/>
          </a:solidFill>
          <a:ln w="0">
            <a:noFill/>
          </a:ln>
          <a:effectLst>
            <a:outerShdw blurRad="63360" sx="102000" sy="102000">
              <a:srgbClr val="000000">
                <a:alpha val="3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2000" b="1" strike="noStrike" spc="-1">
                <a:solidFill>
                  <a:srgbClr val="FFFFFF"/>
                </a:solidFill>
                <a:latin typeface="Calibri"/>
                <a:ea typeface="Calibri"/>
              </a:rPr>
              <a:t>PERCENTUAL DE DESISTÊNCIA PARA ATENDIMENTO MÉDICO</a:t>
            </a:r>
            <a:endParaRPr lang="pt-BR" sz="2000" b="0" strike="noStrike" spc="-1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31" name="Google Shape;170;p9"/>
          <p:cNvGraphicFramePr/>
          <p:nvPr>
            <p:extLst>
              <p:ext uri="{D42A27DB-BD31-4B8C-83A1-F6EECF244321}">
                <p14:modId xmlns:p14="http://schemas.microsoft.com/office/powerpoint/2010/main" val="2755552413"/>
              </p:ext>
            </p:extLst>
          </p:nvPr>
        </p:nvGraphicFramePr>
        <p:xfrm>
          <a:off x="2954632" y="788567"/>
          <a:ext cx="7916755" cy="6336055"/>
        </p:xfrm>
        <a:graphic>
          <a:graphicData uri="http://schemas.openxmlformats.org/drawingml/2006/table">
            <a:tbl>
              <a:tblPr/>
              <a:tblGrid>
                <a:gridCol w="17780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1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5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2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75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18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6872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pt-BR" sz="2300" b="1" strike="noStrike" spc="-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Unidade</a:t>
                      </a:r>
                      <a:endParaRPr lang="pt-BR" sz="23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B311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pt-BR" sz="2300" b="1" strike="noStrike" spc="-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Meta</a:t>
                      </a:r>
                      <a:endParaRPr lang="pt-BR" sz="23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B3116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4999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2100" b="1" strike="noStrike" spc="-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Julho 23</a:t>
                      </a:r>
                      <a:endParaRPr lang="pt-BR" sz="21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B3116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4999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2000" b="1" strike="noStrike" spc="-1">
                          <a:solidFill>
                            <a:schemeClr val="lt1"/>
                          </a:solidFill>
                          <a:latin typeface="Calibri"/>
                          <a:ea typeface="Calibri"/>
                        </a:rPr>
                        <a:t>Agosto 23</a:t>
                      </a:r>
                      <a:endParaRPr lang="pt-BR" sz="2000" b="0" strike="noStrike" spc="-1">
                        <a:solidFill>
                          <a:schemeClr val="lt1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B3116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4999"/>
                        </a:lnSpc>
                        <a:buNone/>
                      </a:pPr>
                      <a:r>
                        <a:rPr lang="pt-BR" sz="2000" b="1" strike="noStrike" spc="-1">
                          <a:solidFill>
                            <a:schemeClr val="lt1"/>
                          </a:solidFill>
                          <a:latin typeface="Calibri"/>
                          <a:ea typeface="Calibri"/>
                        </a:rPr>
                        <a:t> Setembro 23</a:t>
                      </a:r>
                      <a:endParaRPr lang="pt-BR" sz="20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B311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pt-BR" sz="2000" b="1" strike="noStrike" spc="-1">
                          <a:solidFill>
                            <a:schemeClr val="lt1"/>
                          </a:solidFill>
                          <a:latin typeface="Calibri"/>
                          <a:ea typeface="Calibri"/>
                        </a:rPr>
                        <a:t> Outubro 23</a:t>
                      </a:r>
                      <a:endParaRPr lang="pt-BR" sz="20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B311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652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pt-BR" sz="1800" b="1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UPA JK</a:t>
                      </a:r>
                      <a:endParaRPr lang="pt-BR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pt-BR" sz="1800" b="1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&lt; 10%</a:t>
                      </a:r>
                      <a:endParaRPr lang="pt-BR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spc="-1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13%</a:t>
                      </a:r>
                      <a:endParaRPr lang="pt-BR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spc="-1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9,5%</a:t>
                      </a:r>
                      <a:endParaRPr lang="pt-BR" sz="1600" b="0" strike="noStrike" spc="-1">
                        <a:solidFill>
                          <a:schemeClr val="dk1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spc="-1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9,98%</a:t>
                      </a:r>
                      <a:endParaRPr lang="pt-BR"/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strike="noStrike" spc="-1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17,6%</a:t>
                      </a: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652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pt-BR" sz="1800" b="1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UPA Vargem das Flores</a:t>
                      </a:r>
                      <a:endParaRPr lang="pt-BR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pt-BR" sz="1800" b="1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&lt; 10%</a:t>
                      </a:r>
                      <a:endParaRPr lang="pt-BR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700" b="1" strike="noStrike" spc="-1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5%</a:t>
                      </a:r>
                      <a:endParaRPr lang="pt-BR" sz="17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700" b="1" strike="noStrike" spc="-1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3%</a:t>
                      </a:r>
                      <a:endParaRPr lang="pt-BR" sz="17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  <a:tabLst>
                          <a:tab pos="0" algn="l"/>
                        </a:tabLst>
                      </a:pPr>
                      <a:r>
                        <a:rPr lang="pt-BR" sz="1700" b="1" strike="noStrike" spc="-1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3%</a:t>
                      </a:r>
                      <a:endParaRPr lang="pt-BR"/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700" b="1" strike="noStrike" spc="-1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4%</a:t>
                      </a: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6009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pt-BR" sz="1800" b="1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UPA Ressaca</a:t>
                      </a:r>
                      <a:endParaRPr lang="pt-BR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pt-BR" sz="1800" b="1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&lt; 10%</a:t>
                      </a:r>
                      <a:endParaRPr lang="pt-BR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700" b="1" strike="noStrike" spc="-1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9%</a:t>
                      </a:r>
                      <a:endParaRPr lang="pt-BR" sz="17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</a:pPr>
                      <a:r>
                        <a:rPr lang="pt-BR" sz="1700" b="1" strike="noStrike" spc="-1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12,5 %</a:t>
                      </a:r>
                      <a:endParaRPr lang="pt-BR" sz="17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  <a:tabLst>
                          <a:tab pos="0" algn="l"/>
                        </a:tabLst>
                      </a:pPr>
                      <a:r>
                        <a:rPr lang="pt-BR" sz="1700" b="1" strike="noStrike" spc="-1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8,9%</a:t>
                      </a:r>
                      <a:endParaRPr lang="pt-BR"/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700" b="1" strike="noStrike" spc="-1">
                        <a:solidFill>
                          <a:schemeClr val="dk1"/>
                        </a:solidFill>
                        <a:latin typeface="Calibri"/>
                        <a:ea typeface="Calibri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8432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pt-BR" sz="1800" b="1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UPA Petrolândia</a:t>
                      </a:r>
                      <a:endParaRPr lang="pt-BR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pt-BR" sz="1800" b="1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&lt; 10%</a:t>
                      </a:r>
                      <a:endParaRPr lang="pt-BR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700" b="1" strike="noStrike" spc="-1">
                          <a:solidFill>
                            <a:srgbClr val="FF0000"/>
                          </a:solidFill>
                          <a:latin typeface="Calibri"/>
                          <a:ea typeface="Calibri"/>
                        </a:rPr>
                        <a:t>14%</a:t>
                      </a:r>
                      <a:endParaRPr lang="pt-BR" sz="17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700" b="1" strike="noStrike" spc="-1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7%</a:t>
                      </a:r>
                      <a:endParaRPr lang="pt-BR" sz="1700" b="0" strike="noStrike" spc="-1">
                        <a:solidFill>
                          <a:schemeClr val="dk1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BR" sz="1700" b="1" strike="noStrike" spc="-1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      </a:t>
                      </a:r>
                      <a:r>
                        <a:rPr lang="pt-BR" sz="1700" b="1" strike="noStrike" spc="-1">
                          <a:solidFill>
                            <a:srgbClr val="FF0000"/>
                          </a:solidFill>
                          <a:latin typeface="Calibri"/>
                          <a:ea typeface="Calibri"/>
                        </a:rPr>
                        <a:t> 12%</a:t>
                      </a:r>
                      <a:endParaRPr lang="pt-BR">
                        <a:solidFill>
                          <a:srgbClr val="FF0000"/>
                        </a:solidFill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700" b="1" strike="noStrike" spc="-1">
                          <a:solidFill>
                            <a:srgbClr val="FF0000"/>
                          </a:solidFill>
                          <a:latin typeface="Calibri"/>
                          <a:ea typeface="Calibri"/>
                        </a:rPr>
                        <a:t>1,20%</a:t>
                      </a: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84324">
                <a:tc>
                  <a:txBody>
                    <a:bodyPr/>
                    <a:lstStyle/>
                    <a:p>
                      <a:pPr lvl="0" algn="ctr">
                        <a:lnSpc>
                          <a:spcPct val="114999"/>
                        </a:lnSpc>
                        <a:buNone/>
                      </a:pPr>
                      <a:r>
                        <a:rPr lang="pt-BR" sz="1800" b="1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UPA Industrial</a:t>
                      </a: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4999"/>
                        </a:lnSpc>
                        <a:buNone/>
                      </a:pPr>
                      <a:r>
                        <a:rPr lang="pt-BR" sz="1800" b="1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&lt; 10%</a:t>
                      </a: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700" b="1" strike="noStrike" spc="-1">
                          <a:solidFill>
                            <a:srgbClr val="FF0000"/>
                          </a:solidFill>
                          <a:latin typeface="Calibri"/>
                          <a:ea typeface="Calibri"/>
                        </a:rPr>
                        <a:t>-</a:t>
                      </a: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700" b="1" strike="noStrike" spc="-1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-</a:t>
                      </a: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BR" sz="1700" b="1" strike="noStrike" spc="-1">
                          <a:solidFill>
                            <a:srgbClr val="FF0000"/>
                          </a:solidFill>
                          <a:latin typeface="Calibri"/>
                          <a:ea typeface="Calibri"/>
                        </a:rPr>
                        <a:t>1%</a:t>
                      </a: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BR" sz="1700" b="1" strike="noStrike" spc="-1">
                          <a:solidFill>
                            <a:srgbClr val="FF0000"/>
                          </a:solidFill>
                          <a:latin typeface="Calibri"/>
                          <a:ea typeface="Calibri"/>
                        </a:rPr>
                        <a:t>4%</a:t>
                      </a: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1090523"/>
                  </a:ext>
                </a:extLst>
              </a:tr>
              <a:tr h="98432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pt-BR" sz="1800" b="1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Total</a:t>
                      </a:r>
                      <a:endParaRPr lang="pt-BR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pt-BR" sz="1800" b="1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&lt; 10%</a:t>
                      </a:r>
                      <a:endParaRPr lang="pt-BR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700" b="1" strike="noStrike" spc="-1">
                          <a:solidFill>
                            <a:srgbClr val="FF0000"/>
                          </a:solidFill>
                          <a:latin typeface="Calibri"/>
                          <a:ea typeface="Calibri"/>
                        </a:rPr>
                        <a:t>10,25%</a:t>
                      </a:r>
                      <a:endParaRPr lang="pt-BR" sz="17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700" b="1" strike="noStrike" spc="-1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8%</a:t>
                      </a:r>
                      <a:endParaRPr lang="pt-BR" sz="1700" b="0" strike="noStrike" spc="-1">
                        <a:solidFill>
                          <a:schemeClr val="dk1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  <a:tabLst>
                          <a:tab pos="0" algn="l"/>
                        </a:tabLst>
                      </a:pPr>
                      <a:r>
                        <a:rPr lang="pt-BR" sz="1700" b="1" strike="noStrike" spc="-1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8,47%</a:t>
                      </a:r>
                      <a:endParaRPr lang="pt-BR"/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700" b="1" strike="noStrike" spc="-1">
                        <a:solidFill>
                          <a:schemeClr val="dk1"/>
                        </a:solidFill>
                        <a:latin typeface="Calibri"/>
                        <a:ea typeface="Calibri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6B8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167;p9"/>
          <p:cNvPicPr/>
          <p:nvPr/>
        </p:nvPicPr>
        <p:blipFill>
          <a:blip r:embed="rId2"/>
          <a:srcRect r="65499"/>
          <a:stretch/>
        </p:blipFill>
        <p:spPr>
          <a:xfrm>
            <a:off x="0" y="0"/>
            <a:ext cx="3514320" cy="6857640"/>
          </a:xfrm>
          <a:prstGeom prst="rect">
            <a:avLst/>
          </a:prstGeom>
          <a:ln w="0">
            <a:noFill/>
          </a:ln>
        </p:spPr>
      </p:pic>
      <p:pic>
        <p:nvPicPr>
          <p:cNvPr id="229" name="Google Shape;168;p9"/>
          <p:cNvPicPr/>
          <p:nvPr/>
        </p:nvPicPr>
        <p:blipFill>
          <a:blip r:embed="rId3"/>
          <a:stretch/>
        </p:blipFill>
        <p:spPr>
          <a:xfrm>
            <a:off x="198360" y="5899320"/>
            <a:ext cx="1904760" cy="738000"/>
          </a:xfrm>
          <a:prstGeom prst="rect">
            <a:avLst/>
          </a:prstGeom>
          <a:ln w="0">
            <a:noFill/>
          </a:ln>
        </p:spPr>
      </p:pic>
      <p:sp>
        <p:nvSpPr>
          <p:cNvPr id="230" name="Google Shape;169;p9"/>
          <p:cNvSpPr/>
          <p:nvPr/>
        </p:nvSpPr>
        <p:spPr>
          <a:xfrm>
            <a:off x="282600" y="58680"/>
            <a:ext cx="8872200" cy="763200"/>
          </a:xfrm>
          <a:prstGeom prst="homePlate">
            <a:avLst>
              <a:gd name="adj" fmla="val 21216"/>
            </a:avLst>
          </a:prstGeom>
          <a:solidFill>
            <a:srgbClr val="B33259"/>
          </a:solidFill>
          <a:ln w="0">
            <a:noFill/>
          </a:ln>
          <a:effectLst>
            <a:outerShdw blurRad="63360" sx="102000" sy="102000">
              <a:srgbClr val="000000">
                <a:alpha val="3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2000" b="1" strike="noStrike" spc="-1">
                <a:solidFill>
                  <a:srgbClr val="FFFFFF"/>
                </a:solidFill>
                <a:latin typeface="Calibri"/>
                <a:ea typeface="Calibri"/>
              </a:rPr>
              <a:t>PERCENTUAL DE DESISTÊNCIA PARA ATENDIMENTO MÉDICO</a:t>
            </a:r>
            <a:endParaRPr lang="pt-BR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Google Shape;171;p9"/>
          <p:cNvSpPr/>
          <p:nvPr/>
        </p:nvSpPr>
        <p:spPr>
          <a:xfrm>
            <a:off x="3576600" y="6413400"/>
            <a:ext cx="5722560" cy="335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8480" bIns="16848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1100" b="1" strike="noStrike" spc="-1">
                <a:solidFill>
                  <a:srgbClr val="B31166"/>
                </a:solidFill>
                <a:latin typeface="Arial"/>
                <a:ea typeface="Arial"/>
              </a:rPr>
              <a:t>FONTE: Dados extraidos do relatório NPA - Tempos de Classificação - SPDATA</a:t>
            </a:r>
            <a:endParaRPr lang="pt-BR" sz="1100" b="0" strike="noStrike" spc="-1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5" name="Google Shape;176;p12">
            <a:extLst>
              <a:ext uri="{FF2B5EF4-FFF2-40B4-BE49-F238E27FC236}">
                <a16:creationId xmlns:a16="http://schemas.microsoft.com/office/drawing/2014/main" id="{A2B2C384-7F9A-0E6D-EAD7-FECB5FF45C7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61136691"/>
              </p:ext>
            </p:extLst>
          </p:nvPr>
        </p:nvGraphicFramePr>
        <p:xfrm>
          <a:off x="2340494" y="622865"/>
          <a:ext cx="8388303" cy="6916540"/>
        </p:xfrm>
        <a:graphic>
          <a:graphicData uri="http://schemas.openxmlformats.org/drawingml/2006/table">
            <a:tbl>
              <a:tblPr/>
              <a:tblGrid>
                <a:gridCol w="20915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14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49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37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5747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590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45540">
                <a:tc>
                  <a:txBody>
                    <a:bodyPr/>
                    <a:lstStyle/>
                    <a:p>
                      <a:pPr marL="0" algn="ctr"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pt-BR" sz="2100" b="1" strike="noStrike" spc="-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Unidade</a:t>
                      </a:r>
                      <a:endParaRPr lang="pt-BR" sz="21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B311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pt-BR" sz="2100" b="1" strike="noStrike" spc="-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Indicador</a:t>
                      </a:r>
                      <a:endParaRPr lang="pt-BR" sz="21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B3116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4999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800" b="1" strike="noStrike" spc="-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Julho 23</a:t>
                      </a:r>
                      <a:endParaRPr lang="pt-BR" sz="18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B3116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4999"/>
                        </a:lnSpc>
                        <a:buNone/>
                      </a:pPr>
                      <a:r>
                        <a:rPr lang="pt-BR" sz="1800" b="1" strike="noStrike" spc="-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Agosto 23</a:t>
                      </a:r>
                      <a:endParaRPr lang="pt-BR" sz="18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B3116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4999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800" b="1" strike="noStrike" spc="-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Setembro 23</a:t>
                      </a:r>
                      <a:endParaRPr lang="pt-BR" sz="18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B311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pt-BR" sz="1800" b="1" strike="noStrike" spc="-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 Outubro 23</a:t>
                      </a: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B311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8595">
                <a:tc rowSpan="4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pt-BR" sz="20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UPA JK</a:t>
                      </a:r>
                      <a:endParaRPr lang="pt-BR" sz="20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pt-BR" sz="11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(40leitos)</a:t>
                      </a:r>
                      <a:endParaRPr lang="pt-BR" sz="11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pt-BR" sz="12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Total pacientes internados</a:t>
                      </a:r>
                      <a:endParaRPr lang="pt-BR" sz="12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478</a:t>
                      </a:r>
                      <a:endParaRPr lang="pt-BR" sz="16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460</a:t>
                      </a:r>
                      <a:endParaRPr lang="pt-BR" sz="16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432</a:t>
                      </a:r>
                      <a:endParaRPr lang="pt-BR" dirty="0"/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308</a:t>
                      </a: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595">
                <a:tc vMerge="1">
                  <a:txBody>
                    <a:bodyPr/>
                    <a:lstStyle/>
                    <a:p>
                      <a:endParaRPr lang="pt-BR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pt-BR" sz="12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Média de Pacientes / Dia</a:t>
                      </a:r>
                      <a:endParaRPr lang="pt-BR" sz="12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63</a:t>
                      </a:r>
                      <a:endParaRPr lang="pt-BR" sz="16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64</a:t>
                      </a:r>
                      <a:endParaRPr lang="pt-BR" sz="16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64</a:t>
                      </a:r>
                      <a:endParaRPr lang="pt-BR" dirty="0"/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b="1" strike="noStrike" spc="-1">
                        <a:solidFill>
                          <a:srgbClr val="000000"/>
                        </a:solidFill>
                        <a:latin typeface="Calibri"/>
                        <a:ea typeface="Calibri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5417">
                <a:tc vMerge="1">
                  <a:txBody>
                    <a:bodyPr/>
                    <a:lstStyle/>
                    <a:p>
                      <a:endParaRPr lang="pt-BR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pt-BR" sz="12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Média de Permanência</a:t>
                      </a:r>
                      <a:endParaRPr lang="pt-BR" sz="12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58,5h</a:t>
                      </a:r>
                      <a:endParaRPr lang="pt-BR" sz="16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59,4</a:t>
                      </a:r>
                      <a:endParaRPr lang="pt-BR" sz="16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71</a:t>
                      </a:r>
                      <a:endParaRPr lang="pt-BR" dirty="0"/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b="1" strike="noStrike" spc="-1">
                        <a:solidFill>
                          <a:srgbClr val="000000"/>
                        </a:solidFill>
                        <a:latin typeface="Calibri"/>
                        <a:ea typeface="Calibri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5417">
                <a:tc vMerge="1">
                  <a:txBody>
                    <a:bodyPr/>
                    <a:lstStyle/>
                    <a:p>
                      <a:endParaRPr lang="pt-BR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pt-BR" sz="12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Taxa de Ocupação </a:t>
                      </a:r>
                      <a:endParaRPr lang="pt-BR" sz="12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131%</a:t>
                      </a:r>
                      <a:endParaRPr lang="pt-BR" sz="16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133%</a:t>
                      </a:r>
                      <a:endParaRPr lang="pt-BR" sz="16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132%</a:t>
                      </a:r>
                      <a:endParaRPr lang="pt-BR" dirty="0"/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b="1" strike="noStrike" spc="-1">
                        <a:solidFill>
                          <a:srgbClr val="000000"/>
                        </a:solidFill>
                        <a:latin typeface="Calibri"/>
                        <a:ea typeface="Calibri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8595">
                <a:tc rowSpan="4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pt-BR" sz="20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UPA Vargem das Flores</a:t>
                      </a:r>
                      <a:endParaRPr lang="pt-BR" sz="20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pt-BR" sz="11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(21 leitos)</a:t>
                      </a:r>
                      <a:endParaRPr lang="pt-BR" sz="11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pt-BR" sz="12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Total pacientes internados</a:t>
                      </a:r>
                      <a:endParaRPr lang="pt-BR" sz="12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136</a:t>
                      </a:r>
                      <a:endParaRPr lang="pt-BR" sz="16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178</a:t>
                      </a:r>
                      <a:endParaRPr lang="pt-BR" sz="16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186</a:t>
                      </a:r>
                      <a:endParaRPr lang="pt-BR" dirty="0"/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203</a:t>
                      </a: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A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8595">
                <a:tc vMerge="1">
                  <a:txBody>
                    <a:bodyPr/>
                    <a:lstStyle/>
                    <a:p>
                      <a:endParaRPr lang="pt-BR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pt-BR" sz="12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Média de Pacientes / Dia</a:t>
                      </a:r>
                      <a:endParaRPr lang="pt-BR" sz="12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24</a:t>
                      </a:r>
                      <a:endParaRPr lang="pt-BR" sz="16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22</a:t>
                      </a:r>
                      <a:endParaRPr lang="pt-BR" sz="16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22</a:t>
                      </a:r>
                      <a:endParaRPr lang="pt-BR" dirty="0"/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21,68</a:t>
                      </a: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A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5417">
                <a:tc vMerge="1">
                  <a:txBody>
                    <a:bodyPr/>
                    <a:lstStyle/>
                    <a:p>
                      <a:endParaRPr lang="pt-BR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pt-BR" sz="12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Média de Permanência</a:t>
                      </a:r>
                      <a:endParaRPr lang="pt-BR" sz="12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66h</a:t>
                      </a:r>
                      <a:endParaRPr lang="pt-BR" sz="16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72h</a:t>
                      </a:r>
                      <a:endParaRPr lang="pt-BR" sz="16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BR" sz="16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73 h</a:t>
                      </a:r>
                      <a:endParaRPr lang="pt-BR" dirty="0"/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61 h</a:t>
                      </a: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A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5417">
                <a:tc vMerge="1">
                  <a:txBody>
                    <a:bodyPr/>
                    <a:lstStyle/>
                    <a:p>
                      <a:endParaRPr lang="pt-BR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pt-BR" sz="12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Taxa de Ocupação </a:t>
                      </a:r>
                      <a:endParaRPr lang="pt-BR" sz="12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72,34</a:t>
                      </a:r>
                      <a:endParaRPr lang="pt-BR" sz="16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102,46%</a:t>
                      </a:r>
                      <a:endParaRPr lang="pt-BR" sz="16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82,9%</a:t>
                      </a:r>
                      <a:endParaRPr lang="pt-BR" dirty="0"/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103,23%</a:t>
                      </a: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A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48595">
                <a:tc rowSpan="4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pt-BR" sz="20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UPA Ressaca</a:t>
                      </a:r>
                      <a:endParaRPr lang="pt-BR" sz="20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pt-BR" sz="11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(30 leitos)</a:t>
                      </a:r>
                      <a:endParaRPr lang="pt-BR" sz="11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pt-BR" sz="12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Total pacientes internados</a:t>
                      </a:r>
                      <a:endParaRPr lang="pt-BR" sz="12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252</a:t>
                      </a:r>
                      <a:endParaRPr lang="pt-BR" sz="16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251</a:t>
                      </a:r>
                      <a:endParaRPr lang="pt-BR" sz="16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217</a:t>
                      </a:r>
                      <a:endParaRPr lang="pt-BR" dirty="0"/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211</a:t>
                      </a: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48595">
                <a:tc vMerge="1">
                  <a:txBody>
                    <a:bodyPr/>
                    <a:lstStyle/>
                    <a:p>
                      <a:endParaRPr lang="pt-BR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pt-BR" sz="12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Média de Pacientes / Dia</a:t>
                      </a:r>
                      <a:endParaRPr lang="pt-BR" sz="12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27,77</a:t>
                      </a:r>
                      <a:endParaRPr lang="pt-BR" sz="16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</a:pPr>
                      <a:r>
                        <a:rPr lang="pt-BR" sz="1600" b="1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24</a:t>
                      </a:r>
                      <a:endParaRPr lang="pt-BR" sz="16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21,5</a:t>
                      </a:r>
                      <a:endParaRPr lang="pt-BR" dirty="0"/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22,77</a:t>
                      </a: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5417">
                <a:tc vMerge="1">
                  <a:txBody>
                    <a:bodyPr/>
                    <a:lstStyle/>
                    <a:p>
                      <a:endParaRPr lang="pt-BR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pt-BR" sz="12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Média de Permanência</a:t>
                      </a:r>
                      <a:endParaRPr lang="pt-BR" sz="12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46h</a:t>
                      </a:r>
                      <a:endParaRPr lang="pt-BR" sz="16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4h5</a:t>
                      </a:r>
                      <a:endParaRPr lang="pt-BR" sz="16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39h</a:t>
                      </a:r>
                      <a:endParaRPr lang="pt-BR" dirty="0"/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43h</a:t>
                      </a: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5417">
                <a:tc vMerge="1">
                  <a:txBody>
                    <a:bodyPr/>
                    <a:lstStyle/>
                    <a:p>
                      <a:endParaRPr lang="pt-BR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pt-BR" sz="12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Taxa de Ocupação </a:t>
                      </a:r>
                      <a:endParaRPr lang="pt-BR" sz="12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79%</a:t>
                      </a:r>
                      <a:endParaRPr lang="pt-BR" sz="16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80,3%</a:t>
                      </a:r>
                      <a:endParaRPr lang="pt-BR" sz="16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71,5%</a:t>
                      </a:r>
                      <a:endParaRPr lang="pt-BR" dirty="0"/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75,91%</a:t>
                      </a: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448595">
                <a:tc rowSpan="4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pt-BR" sz="20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UPA Petrolândia</a:t>
                      </a:r>
                      <a:endParaRPr lang="pt-BR" sz="20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pt-BR" sz="11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(23 leitos)</a:t>
                      </a:r>
                      <a:endParaRPr lang="pt-BR" sz="11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pt-BR" sz="12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Total pacientes internados</a:t>
                      </a:r>
                      <a:endParaRPr lang="pt-BR" sz="12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173</a:t>
                      </a:r>
                      <a:endParaRPr lang="pt-BR" sz="16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173</a:t>
                      </a:r>
                      <a:endParaRPr lang="pt-BR" sz="16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144</a:t>
                      </a:r>
                      <a:endParaRPr lang="pt-BR" dirty="0"/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136</a:t>
                      </a: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A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448595">
                <a:tc vMerge="1">
                  <a:txBody>
                    <a:bodyPr/>
                    <a:lstStyle/>
                    <a:p>
                      <a:endParaRPr lang="pt-BR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 w="12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pt-BR" sz="12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Média de Pacientes / Dia</a:t>
                      </a:r>
                      <a:endParaRPr lang="pt-BR" sz="12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noFill/>
                    </a:lnL>
                    <a:lnR w="12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18</a:t>
                      </a:r>
                      <a:endParaRPr lang="pt-BR" sz="16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16,48</a:t>
                      </a:r>
                      <a:endParaRPr lang="pt-BR" sz="16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15</a:t>
                      </a:r>
                      <a:endParaRPr lang="pt-BR" dirty="0"/>
                    </a:p>
                  </a:txBody>
                  <a:tcPr marL="9360" marR="9360" anchor="ctr">
                    <a:lnL w="12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16,39</a:t>
                      </a:r>
                    </a:p>
                  </a:txBody>
                  <a:tcPr marL="9360" marR="9360" anchor="ctr">
                    <a:lnL w="12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240">
                      <a:solidFill>
                        <a:srgbClr val="FFFFFF"/>
                      </a:solidFill>
                    </a:lnR>
                    <a:lnT w="12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A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5417">
                <a:tc vMerge="1">
                  <a:txBody>
                    <a:bodyPr/>
                    <a:lstStyle/>
                    <a:p>
                      <a:endParaRPr lang="pt-BR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pt-BR" sz="12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Média de Permanência</a:t>
                      </a:r>
                      <a:endParaRPr lang="pt-BR" sz="12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39h</a:t>
                      </a:r>
                      <a:endParaRPr lang="pt-BR" sz="16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36h</a:t>
                      </a:r>
                      <a:endParaRPr lang="pt-BR" sz="16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41,52</a:t>
                      </a:r>
                      <a:endParaRPr lang="pt-BR" dirty="0"/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40,8</a:t>
                      </a: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A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95417">
                <a:tc vMerge="1">
                  <a:txBody>
                    <a:bodyPr/>
                    <a:lstStyle/>
                    <a:p>
                      <a:endParaRPr lang="pt-BR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pt-BR" sz="12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Taxa de Ocupação </a:t>
                      </a:r>
                      <a:endParaRPr lang="pt-BR" sz="12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77%</a:t>
                      </a:r>
                      <a:endParaRPr lang="pt-BR" sz="16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86,76%</a:t>
                      </a:r>
                      <a:endParaRPr lang="pt-BR" sz="16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76%</a:t>
                      </a:r>
                      <a:endParaRPr lang="pt-BR" dirty="0"/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71,25</a:t>
                      </a: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A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31659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Google Shape;185;p13"/>
          <p:cNvPicPr/>
          <p:nvPr/>
        </p:nvPicPr>
        <p:blipFill>
          <a:blip r:embed="rId2"/>
          <a:srcRect r="65499"/>
          <a:stretch/>
        </p:blipFill>
        <p:spPr>
          <a:xfrm>
            <a:off x="-465120" y="0"/>
            <a:ext cx="3830400" cy="6857640"/>
          </a:xfrm>
          <a:prstGeom prst="rect">
            <a:avLst/>
          </a:prstGeom>
          <a:ln w="9525">
            <a:solidFill>
              <a:srgbClr val="000000"/>
            </a:solidFill>
            <a:round/>
          </a:ln>
        </p:spPr>
      </p:pic>
      <p:pic>
        <p:nvPicPr>
          <p:cNvPr id="239" name="Google Shape;186;p13"/>
          <p:cNvPicPr/>
          <p:nvPr/>
        </p:nvPicPr>
        <p:blipFill>
          <a:blip r:embed="rId3"/>
          <a:stretch/>
        </p:blipFill>
        <p:spPr>
          <a:xfrm>
            <a:off x="198360" y="5899320"/>
            <a:ext cx="1904760" cy="738000"/>
          </a:xfrm>
          <a:prstGeom prst="rect">
            <a:avLst/>
          </a:prstGeom>
          <a:ln w="0">
            <a:noFill/>
          </a:ln>
        </p:spPr>
      </p:pic>
      <p:sp>
        <p:nvSpPr>
          <p:cNvPr id="240" name="Google Shape;187;p13"/>
          <p:cNvSpPr/>
          <p:nvPr/>
        </p:nvSpPr>
        <p:spPr>
          <a:xfrm>
            <a:off x="-179280" y="39600"/>
            <a:ext cx="8496000" cy="622080"/>
          </a:xfrm>
          <a:prstGeom prst="homePlate">
            <a:avLst>
              <a:gd name="adj" fmla="val 21271"/>
            </a:avLst>
          </a:prstGeom>
          <a:solidFill>
            <a:srgbClr val="B33259"/>
          </a:solidFill>
          <a:ln w="0">
            <a:noFill/>
          </a:ln>
          <a:effectLst>
            <a:outerShdw blurRad="63360" sx="102000" sy="102000">
              <a:srgbClr val="000000">
                <a:alpha val="3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>
              <a:lnSpc>
                <a:spcPct val="115000"/>
              </a:lnSpc>
              <a:tabLst>
                <a:tab pos="0" algn="l"/>
              </a:tabLst>
            </a:pPr>
            <a:r>
              <a:rPr lang="pt-BR" sz="2000" b="1" strike="noStrike" spc="-1">
                <a:solidFill>
                  <a:srgbClr val="FFFFFF"/>
                </a:solidFill>
                <a:latin typeface="Calibri"/>
                <a:ea typeface="Calibri"/>
              </a:rPr>
              <a:t>PERFIL DE INTERNAÇÕES NAS UNIDADES DE PRONTO ATENDIMENTO - ALTAS</a:t>
            </a:r>
            <a:endParaRPr lang="pt-BR" sz="2000" b="0" strike="noStrike" spc="-1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42" name="Google Shape;189;p13"/>
          <p:cNvGraphicFramePr/>
          <p:nvPr>
            <p:extLst>
              <p:ext uri="{D42A27DB-BD31-4B8C-83A1-F6EECF244321}">
                <p14:modId xmlns:p14="http://schemas.microsoft.com/office/powerpoint/2010/main" val="1184513582"/>
              </p:ext>
            </p:extLst>
          </p:nvPr>
        </p:nvGraphicFramePr>
        <p:xfrm>
          <a:off x="2658946" y="663908"/>
          <a:ext cx="9223440" cy="6093917"/>
        </p:xfrm>
        <a:graphic>
          <a:graphicData uri="http://schemas.openxmlformats.org/drawingml/2006/table">
            <a:tbl>
              <a:tblPr/>
              <a:tblGrid>
                <a:gridCol w="22828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54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37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68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352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92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87056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pt-BR" sz="2300" b="1" strike="noStrike" spc="-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Unidade</a:t>
                      </a:r>
                      <a:endParaRPr lang="pt-BR" sz="23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B311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pt-BR" sz="2300" b="1" strike="noStrike" spc="-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Indicador</a:t>
                      </a:r>
                      <a:endParaRPr lang="pt-BR" sz="23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B3116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4999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2000" b="1" strike="noStrike" spc="-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Julho 23</a:t>
                      </a:r>
                      <a:endParaRPr lang="pt-BR" sz="20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B3116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4999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2000" b="1" strike="noStrike" spc="-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Agosto 23</a:t>
                      </a:r>
                      <a:endParaRPr lang="pt-BR" sz="20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B3116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4999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2000" b="1" strike="noStrike" spc="-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Setembro 23</a:t>
                      </a:r>
                      <a:endParaRPr lang="pt-BR" sz="20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B311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pt-BR" sz="2000" b="1" strike="noStrike" spc="-1" dirty="0">
                          <a:solidFill>
                            <a:srgbClr val="FFFFFF"/>
                          </a:solidFill>
                          <a:latin typeface="Calibri"/>
                        </a:rPr>
                        <a:t>Outubro 23</a:t>
                      </a: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B311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8882">
                <a:tc row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pt-BR" sz="21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UPA JK</a:t>
                      </a:r>
                      <a:endParaRPr lang="pt-BR" sz="21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pt-BR" sz="12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Total pacientes internados</a:t>
                      </a:r>
                      <a:endParaRPr lang="pt-BR" sz="12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500" b="1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478</a:t>
                      </a:r>
                      <a:endParaRPr lang="pt-BR" sz="15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500" b="1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460</a:t>
                      </a:r>
                      <a:endParaRPr lang="pt-BR" sz="15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  <a:tabLst>
                          <a:tab pos="0" algn="l"/>
                        </a:tabLst>
                      </a:pPr>
                      <a:r>
                        <a:rPr lang="pt-BR" sz="1500" b="1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432</a:t>
                      </a:r>
                      <a:endParaRPr lang="pt-BR" dirty="0"/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5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308</a:t>
                      </a: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882">
                <a:tc vMerge="1">
                  <a:txBody>
                    <a:bodyPr/>
                    <a:lstStyle/>
                    <a:p>
                      <a:endParaRPr lang="pt-BR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pt-BR" sz="12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Alta Melhorada</a:t>
                      </a:r>
                      <a:endParaRPr lang="pt-BR" sz="12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500" b="1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185</a:t>
                      </a:r>
                      <a:endParaRPr lang="pt-BR" sz="15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500" b="1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223</a:t>
                      </a:r>
                      <a:endParaRPr lang="pt-BR" sz="15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  <a:tabLst>
                          <a:tab pos="0" algn="l"/>
                        </a:tabLst>
                      </a:pPr>
                      <a:r>
                        <a:rPr lang="pt-BR" sz="1500" b="1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236</a:t>
                      </a:r>
                      <a:endParaRPr lang="pt-BR" dirty="0"/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5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174</a:t>
                      </a: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882">
                <a:tc vMerge="1">
                  <a:txBody>
                    <a:bodyPr/>
                    <a:lstStyle/>
                    <a:p>
                      <a:endParaRPr lang="pt-BR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pt-BR" sz="12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Transferências</a:t>
                      </a:r>
                      <a:endParaRPr lang="pt-BR" sz="12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500" b="1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172</a:t>
                      </a:r>
                      <a:endParaRPr lang="pt-BR" sz="15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500" b="1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163</a:t>
                      </a:r>
                      <a:endParaRPr lang="pt-BR" sz="15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  <a:tabLst>
                          <a:tab pos="0" algn="l"/>
                        </a:tabLst>
                      </a:pPr>
                      <a:r>
                        <a:rPr lang="pt-BR" sz="1500" b="1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144</a:t>
                      </a:r>
                      <a:endParaRPr lang="pt-BR" dirty="0"/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5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112</a:t>
                      </a: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8882">
                <a:tc row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pt-BR" sz="21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UPA Vargem das Flores</a:t>
                      </a:r>
                      <a:endParaRPr lang="pt-BR" sz="21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pt-BR" sz="12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Total pacientes internados</a:t>
                      </a:r>
                      <a:endParaRPr lang="pt-BR" sz="12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936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500" b="1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136</a:t>
                      </a:r>
                      <a:endParaRPr lang="pt-BR" sz="15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936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500" b="1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178</a:t>
                      </a:r>
                      <a:endParaRPr lang="pt-BR" sz="15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  <a:tabLst>
                          <a:tab pos="0" algn="l"/>
                        </a:tabLst>
                      </a:pPr>
                      <a:r>
                        <a:rPr lang="pt-BR" sz="1500" b="1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186</a:t>
                      </a:r>
                      <a:endParaRPr lang="pt-BR" dirty="0"/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5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203</a:t>
                      </a: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8882">
                <a:tc vMerge="1">
                  <a:txBody>
                    <a:bodyPr/>
                    <a:lstStyle/>
                    <a:p>
                      <a:endParaRPr lang="pt-BR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pt-BR" sz="12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Alta Melhorada</a:t>
                      </a:r>
                      <a:endParaRPr lang="pt-BR" sz="12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936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500" b="1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57</a:t>
                      </a:r>
                      <a:endParaRPr lang="pt-BR" sz="15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936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500" b="1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69</a:t>
                      </a:r>
                      <a:endParaRPr lang="pt-BR" sz="15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  <a:tabLst>
                          <a:tab pos="0" algn="l"/>
                        </a:tabLst>
                      </a:pPr>
                      <a:r>
                        <a:rPr lang="pt-BR" sz="1500" b="1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58</a:t>
                      </a:r>
                      <a:endParaRPr lang="pt-BR" dirty="0"/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BR" sz="1500" b="1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66</a:t>
                      </a: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8882">
                <a:tc vMerge="1">
                  <a:txBody>
                    <a:bodyPr/>
                    <a:lstStyle/>
                    <a:p>
                      <a:endParaRPr lang="pt-BR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pt-BR" sz="12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Transferências</a:t>
                      </a:r>
                      <a:endParaRPr lang="pt-BR" sz="12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936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500" b="1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62</a:t>
                      </a:r>
                      <a:endParaRPr lang="pt-BR" sz="15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936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500" b="1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68</a:t>
                      </a:r>
                      <a:endParaRPr lang="pt-BR" sz="15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  <a:tabLst>
                          <a:tab pos="0" algn="l"/>
                        </a:tabLst>
                      </a:pPr>
                      <a:r>
                        <a:rPr lang="pt-BR" sz="1500" b="1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67</a:t>
                      </a:r>
                      <a:endParaRPr lang="pt-BR" dirty="0"/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5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112</a:t>
                      </a: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8882">
                <a:tc row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pt-BR" sz="21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UPA Ressaca</a:t>
                      </a:r>
                      <a:endParaRPr lang="pt-BR" sz="21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pt-BR" sz="12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Total pacientes internados</a:t>
                      </a:r>
                      <a:endParaRPr lang="pt-BR" sz="12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936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500" b="1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252</a:t>
                      </a:r>
                      <a:endParaRPr lang="pt-BR" sz="15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936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500" b="1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251</a:t>
                      </a:r>
                      <a:endParaRPr lang="pt-BR" sz="15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  <a:tabLst>
                          <a:tab pos="0" algn="l"/>
                        </a:tabLst>
                      </a:pPr>
                      <a:r>
                        <a:rPr lang="pt-BR" sz="1500" b="1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217</a:t>
                      </a:r>
                      <a:endParaRPr lang="pt-BR" dirty="0"/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5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211</a:t>
                      </a: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8882">
                <a:tc vMerge="1">
                  <a:txBody>
                    <a:bodyPr/>
                    <a:lstStyle/>
                    <a:p>
                      <a:endParaRPr lang="pt-BR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pt-BR" sz="12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Alta Melhorada</a:t>
                      </a:r>
                      <a:endParaRPr lang="pt-BR" sz="12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500" b="1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97</a:t>
                      </a:r>
                      <a:endParaRPr lang="pt-BR" sz="15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500" b="1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113</a:t>
                      </a:r>
                      <a:endParaRPr lang="pt-BR" sz="15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  <a:tabLst>
                          <a:tab pos="0" algn="l"/>
                        </a:tabLst>
                      </a:pPr>
                      <a:r>
                        <a:rPr lang="pt-BR" sz="1500" b="1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93</a:t>
                      </a:r>
                      <a:endParaRPr lang="pt-BR" dirty="0"/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5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125</a:t>
                      </a: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48882">
                <a:tc vMerge="1">
                  <a:txBody>
                    <a:bodyPr/>
                    <a:lstStyle/>
                    <a:p>
                      <a:endParaRPr lang="pt-BR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pt-BR" sz="12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Transferências</a:t>
                      </a:r>
                      <a:endParaRPr lang="pt-BR" sz="12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500" b="1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126</a:t>
                      </a:r>
                      <a:endParaRPr lang="pt-BR" sz="15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500" b="1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120</a:t>
                      </a:r>
                      <a:endParaRPr lang="pt-BR" sz="15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  <a:tabLst>
                          <a:tab pos="0" algn="l"/>
                        </a:tabLst>
                      </a:pPr>
                      <a:r>
                        <a:rPr lang="pt-BR" sz="1500" b="1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109</a:t>
                      </a:r>
                      <a:endParaRPr lang="pt-BR" dirty="0"/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5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66</a:t>
                      </a: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4473">
                <a:tc row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pt-BR" sz="21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UPA Petrolândia</a:t>
                      </a:r>
                      <a:endParaRPr lang="pt-BR" sz="21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pt-BR" sz="12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Total pacientes internados</a:t>
                      </a:r>
                      <a:endParaRPr lang="pt-BR" sz="12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500" b="1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173</a:t>
                      </a:r>
                      <a:endParaRPr lang="pt-BR" sz="15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5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173</a:t>
                      </a:r>
                      <a:endParaRPr lang="pt-BR" sz="15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  <a:tabLst>
                          <a:tab pos="0" algn="l"/>
                        </a:tabLst>
                      </a:pPr>
                      <a:r>
                        <a:rPr lang="pt-BR" sz="1500" b="1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139</a:t>
                      </a:r>
                      <a:endParaRPr lang="pt-BR" dirty="0"/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5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136</a:t>
                      </a: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4473">
                <a:tc vMerge="1">
                  <a:txBody>
                    <a:bodyPr/>
                    <a:lstStyle/>
                    <a:p>
                      <a:endParaRPr lang="pt-BR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pt-BR" sz="12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Alta Melhorada</a:t>
                      </a:r>
                      <a:endParaRPr lang="pt-BR" sz="12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500" b="1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88</a:t>
                      </a:r>
                      <a:endParaRPr lang="pt-BR" sz="15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500" b="1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100</a:t>
                      </a:r>
                      <a:endParaRPr lang="pt-BR" sz="15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  <a:tabLst>
                          <a:tab pos="0" algn="l"/>
                        </a:tabLst>
                      </a:pPr>
                      <a:r>
                        <a:rPr lang="pt-BR" sz="1500" b="1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58</a:t>
                      </a:r>
                      <a:endParaRPr lang="pt-BR" dirty="0"/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5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68</a:t>
                      </a: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94473">
                <a:tc vMerge="1">
                  <a:txBody>
                    <a:bodyPr/>
                    <a:lstStyle/>
                    <a:p>
                      <a:endParaRPr lang="pt-BR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 w="12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pt-BR" sz="12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Transferências</a:t>
                      </a:r>
                      <a:endParaRPr lang="pt-BR" sz="12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noFill/>
                    </a:lnL>
                    <a:lnR w="12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5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46</a:t>
                      </a:r>
                      <a:endParaRPr lang="pt-BR" sz="15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500" b="1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58</a:t>
                      </a:r>
                      <a:endParaRPr lang="pt-BR" sz="15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  <a:tabLst>
                          <a:tab pos="0" algn="l"/>
                        </a:tabLst>
                      </a:pPr>
                      <a:r>
                        <a:rPr lang="pt-BR" sz="1500" b="1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54</a:t>
                      </a:r>
                      <a:endParaRPr lang="pt-BR" dirty="0"/>
                    </a:p>
                  </a:txBody>
                  <a:tcPr marL="9360" marR="9360" anchor="ctr">
                    <a:lnL w="12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5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27</a:t>
                      </a:r>
                    </a:p>
                  </a:txBody>
                  <a:tcPr marL="9360" marR="9360" anchor="ctr">
                    <a:lnL w="12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240">
                      <a:solidFill>
                        <a:srgbClr val="FFFFFF"/>
                      </a:solidFill>
                    </a:lnR>
                    <a:lnT w="12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CC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Google Shape;194;p10"/>
          <p:cNvPicPr/>
          <p:nvPr/>
        </p:nvPicPr>
        <p:blipFill>
          <a:blip r:embed="rId2"/>
          <a:srcRect r="65499"/>
          <a:stretch/>
        </p:blipFill>
        <p:spPr>
          <a:xfrm>
            <a:off x="-195120" y="0"/>
            <a:ext cx="2074680" cy="6857640"/>
          </a:xfrm>
          <a:prstGeom prst="rect">
            <a:avLst/>
          </a:prstGeom>
          <a:ln w="0">
            <a:noFill/>
          </a:ln>
        </p:spPr>
      </p:pic>
      <p:pic>
        <p:nvPicPr>
          <p:cNvPr id="244" name="Google Shape;195;p10"/>
          <p:cNvPicPr/>
          <p:nvPr/>
        </p:nvPicPr>
        <p:blipFill>
          <a:blip r:embed="rId3"/>
          <a:stretch/>
        </p:blipFill>
        <p:spPr>
          <a:xfrm>
            <a:off x="46080" y="5899320"/>
            <a:ext cx="1904760" cy="738000"/>
          </a:xfrm>
          <a:prstGeom prst="rect">
            <a:avLst/>
          </a:prstGeom>
          <a:ln w="0">
            <a:noFill/>
          </a:ln>
        </p:spPr>
      </p:pic>
      <p:sp>
        <p:nvSpPr>
          <p:cNvPr id="245" name="Google Shape;196;p10"/>
          <p:cNvSpPr/>
          <p:nvPr/>
        </p:nvSpPr>
        <p:spPr>
          <a:xfrm>
            <a:off x="50760" y="31680"/>
            <a:ext cx="9686520" cy="933120"/>
          </a:xfrm>
          <a:prstGeom prst="homePlate">
            <a:avLst>
              <a:gd name="adj" fmla="val 21159"/>
            </a:avLst>
          </a:prstGeom>
          <a:solidFill>
            <a:srgbClr val="B33259"/>
          </a:solidFill>
          <a:ln w="0">
            <a:noFill/>
          </a:ln>
          <a:effectLst>
            <a:outerShdw blurRad="63360" sx="102000" sy="102000">
              <a:srgbClr val="000000">
                <a:alpha val="3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2000" b="1" strike="noStrike" spc="-1">
                <a:solidFill>
                  <a:srgbClr val="FFFFFF"/>
                </a:solidFill>
                <a:latin typeface="Calibri"/>
                <a:ea typeface="Calibri"/>
              </a:rPr>
              <a:t>PERCENTUAL DE ESCALA MÉDICA EXECUTADA NAS ESPECIALIDADES DE CLÍNICA MÉDICA, PEDIATRIA E CIRURGIA</a:t>
            </a:r>
            <a:endParaRPr lang="pt-BR" sz="2000" b="0" strike="noStrike" spc="-1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46" name="Google Shape;197;p10"/>
          <p:cNvGraphicFramePr/>
          <p:nvPr>
            <p:extLst>
              <p:ext uri="{D42A27DB-BD31-4B8C-83A1-F6EECF244321}">
                <p14:modId xmlns:p14="http://schemas.microsoft.com/office/powerpoint/2010/main" val="2117247434"/>
              </p:ext>
            </p:extLst>
          </p:nvPr>
        </p:nvGraphicFramePr>
        <p:xfrm>
          <a:off x="1585451" y="762000"/>
          <a:ext cx="9713866" cy="6394006"/>
        </p:xfrm>
        <a:graphic>
          <a:graphicData uri="http://schemas.openxmlformats.org/drawingml/2006/table">
            <a:tbl>
              <a:tblPr/>
              <a:tblGrid>
                <a:gridCol w="17847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18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398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0354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0354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28283">
                <a:tc>
                  <a:txBody>
                    <a:bodyPr/>
                    <a:lstStyle/>
                    <a:p>
                      <a:pPr marL="228600" algn="ctr"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pt-BR" sz="1900" b="1" strike="noStrike" spc="-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Unidade</a:t>
                      </a:r>
                      <a:endParaRPr lang="pt-BR" sz="1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B311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pt-BR" sz="1900" b="1" strike="noStrike" spc="-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Especialidade</a:t>
                      </a:r>
                      <a:endParaRPr lang="pt-BR" sz="1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B3116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4999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900" b="1" strike="noStrike" spc="-1">
                          <a:solidFill>
                            <a:schemeClr val="lt1"/>
                          </a:solidFill>
                          <a:latin typeface="Calibri"/>
                          <a:ea typeface="Calibri"/>
                        </a:rPr>
                        <a:t>Julho </a:t>
                      </a:r>
                      <a:endParaRPr lang="pt-BR" sz="1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lvl="0" algn="ctr">
                        <a:lnSpc>
                          <a:spcPct val="113999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900" b="1" strike="noStrike" spc="-1">
                          <a:solidFill>
                            <a:schemeClr val="lt1"/>
                          </a:solidFill>
                          <a:latin typeface="Calibri"/>
                          <a:ea typeface="Calibri"/>
                        </a:rPr>
                        <a:t>2023</a:t>
                      </a:r>
                      <a:endParaRPr lang="pt-BR" sz="1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B3116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3999"/>
                        </a:lnSpc>
                        <a:buNone/>
                      </a:pPr>
                      <a:r>
                        <a:rPr lang="pt-BR" sz="1900" b="1" strike="noStrike" spc="-1">
                          <a:solidFill>
                            <a:schemeClr val="lt1"/>
                          </a:solidFill>
                          <a:latin typeface="Calibri"/>
                        </a:rPr>
                        <a:t>Agosto 23</a:t>
                      </a:r>
                      <a:endParaRPr lang="pt-BR" sz="1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B3116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3999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900" b="1" strike="noStrike" spc="-1">
                          <a:solidFill>
                            <a:schemeClr val="lt1"/>
                          </a:solidFill>
                          <a:latin typeface="Calibri"/>
                          <a:ea typeface="Calibri"/>
                        </a:rPr>
                        <a:t>Setembro 23</a:t>
                      </a:r>
                      <a:endParaRPr lang="pt-BR" sz="1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B311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4000"/>
                        </a:lnSpc>
                      </a:pPr>
                      <a:r>
                        <a:rPr lang="pt-BR" sz="1900" b="1" strike="noStrike" spc="-1">
                          <a:solidFill>
                            <a:schemeClr val="lt1"/>
                          </a:solidFill>
                          <a:latin typeface="Calibri"/>
                        </a:rPr>
                        <a:t>Outubro 23</a:t>
                      </a: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B311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9891">
                <a:tc row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700" b="1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UPA JK </a:t>
                      </a:r>
                      <a:endParaRPr lang="pt-BR" sz="17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 anchor="ctr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872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pt-BR" sz="1800" b="1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Clínica Médica</a:t>
                      </a:r>
                      <a:endParaRPr lang="pt-BR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000000"/>
                      </a:solidFill>
                    </a:lnL>
                    <a:lnR w="38160">
                      <a:solidFill>
                        <a:srgbClr val="FFFFFF"/>
                      </a:solidFill>
                    </a:lnR>
                    <a:lnT w="3816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99%</a:t>
                      </a:r>
                      <a:endParaRPr lang="pt-BR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 anchor="ctr">
                    <a:lnL w="38160">
                      <a:solidFill>
                        <a:srgbClr val="FFFFFF"/>
                      </a:solidFill>
                    </a:lnL>
                    <a:lnR w="38160">
                      <a:solidFill>
                        <a:srgbClr val="FFFFFF"/>
                      </a:solidFill>
                    </a:lnR>
                    <a:lnT w="3816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100%</a:t>
                      </a:r>
                      <a:endParaRPr lang="pt-BR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 anchor="ctr">
                    <a:lnL w="38160">
                      <a:solidFill>
                        <a:srgbClr val="FFFFFF"/>
                      </a:solidFill>
                    </a:lnL>
                    <a:lnR w="38160">
                      <a:solidFill>
                        <a:srgbClr val="FFFFFF"/>
                      </a:solidFill>
                    </a:lnR>
                    <a:lnT w="3816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kern="1200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+mn-cs"/>
                        </a:rPr>
                        <a:t>100%</a:t>
                      </a:r>
                      <a:endParaRPr lang="pt-BR" kern="1200">
                        <a:cs typeface="+mn-cs"/>
                      </a:endParaRPr>
                    </a:p>
                  </a:txBody>
                  <a:tcPr marL="91080" marR="91080" anchor="ctr">
                    <a:lnL w="38160">
                      <a:solidFill>
                        <a:srgbClr val="FFFFFF"/>
                      </a:solidFill>
                    </a:lnL>
                    <a:lnR w="38160">
                      <a:solidFill>
                        <a:srgbClr val="FFFFFF"/>
                      </a:solidFill>
                    </a:lnR>
                    <a:lnT w="3816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strike="noStrike" kern="1200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+mn-cs"/>
                        </a:rPr>
                        <a:t>100%</a:t>
                      </a:r>
                    </a:p>
                  </a:txBody>
                  <a:tcPr marL="91080" marR="91080" anchor="ctr">
                    <a:lnL w="38160">
                      <a:solidFill>
                        <a:srgbClr val="FFFFFF"/>
                      </a:solidFill>
                    </a:lnL>
                    <a:lnR w="38160">
                      <a:solidFill>
                        <a:srgbClr val="FFFFFF"/>
                      </a:solidFill>
                    </a:lnR>
                    <a:lnT w="3816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691">
                <a:tc vMerge="1">
                  <a:txBody>
                    <a:bodyPr/>
                    <a:lstStyle/>
                    <a:p>
                      <a:endParaRPr lang="pt-BR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800" b="1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Cirurgia</a:t>
                      </a:r>
                      <a:endParaRPr lang="pt-BR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000000"/>
                      </a:solidFill>
                    </a:lnL>
                    <a:lnR w="38160">
                      <a:solidFill>
                        <a:srgbClr val="FFFFFF"/>
                      </a:solidFill>
                    </a:lnR>
                    <a:lnT w="3816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100%</a:t>
                      </a:r>
                      <a:endParaRPr lang="pt-BR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 anchor="ctr">
                    <a:lnL w="38160">
                      <a:solidFill>
                        <a:srgbClr val="FFFFFF"/>
                      </a:solidFill>
                    </a:lnL>
                    <a:lnR w="38160">
                      <a:solidFill>
                        <a:srgbClr val="FFFFFF"/>
                      </a:solidFill>
                    </a:lnR>
                    <a:lnT w="3816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100%</a:t>
                      </a:r>
                      <a:endParaRPr lang="pt-BR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 anchor="ctr">
                    <a:lnL w="38160">
                      <a:solidFill>
                        <a:srgbClr val="FFFFFF"/>
                      </a:solidFill>
                    </a:lnL>
                    <a:lnR w="38160">
                      <a:solidFill>
                        <a:srgbClr val="FFFFFF"/>
                      </a:solidFill>
                    </a:lnR>
                    <a:lnT w="3816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kern="1200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+mn-cs"/>
                        </a:rPr>
                        <a:t>98%</a:t>
                      </a:r>
                      <a:endParaRPr lang="pt-BR" kern="1200">
                        <a:cs typeface="+mn-cs"/>
                      </a:endParaRPr>
                    </a:p>
                  </a:txBody>
                  <a:tcPr marL="91080" marR="91080" anchor="ctr">
                    <a:lnL w="38160">
                      <a:solidFill>
                        <a:srgbClr val="FFFFFF"/>
                      </a:solidFill>
                    </a:lnL>
                    <a:lnR w="38160">
                      <a:solidFill>
                        <a:srgbClr val="FFFFFF"/>
                      </a:solidFill>
                    </a:lnR>
                    <a:lnT w="3816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strike="noStrike" kern="1200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+mn-cs"/>
                        </a:rPr>
                        <a:t>90,3%</a:t>
                      </a:r>
                    </a:p>
                  </a:txBody>
                  <a:tcPr marL="91080" marR="91080" anchor="ctr">
                    <a:lnL w="38160">
                      <a:solidFill>
                        <a:srgbClr val="FFFFFF"/>
                      </a:solidFill>
                    </a:lnL>
                    <a:lnR w="38160">
                      <a:solidFill>
                        <a:srgbClr val="FFFFFF"/>
                      </a:solidFill>
                    </a:lnR>
                    <a:lnT w="3816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8691">
                <a:tc vMerge="1">
                  <a:txBody>
                    <a:bodyPr/>
                    <a:lstStyle/>
                    <a:p>
                      <a:endParaRPr lang="pt-BR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800" b="1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Ortopedia</a:t>
                      </a:r>
                      <a:endParaRPr lang="pt-BR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000000"/>
                      </a:solidFill>
                    </a:lnL>
                    <a:lnR w="38160">
                      <a:solidFill>
                        <a:srgbClr val="FFFFFF"/>
                      </a:solidFill>
                    </a:lnR>
                    <a:lnT w="3816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100%</a:t>
                      </a:r>
                      <a:endParaRPr lang="pt-BR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 anchor="ctr">
                    <a:lnL w="38160">
                      <a:solidFill>
                        <a:srgbClr val="FFFFFF"/>
                      </a:solidFill>
                    </a:lnL>
                    <a:lnR w="38160">
                      <a:solidFill>
                        <a:srgbClr val="FFFFFF"/>
                      </a:solidFill>
                    </a:lnR>
                    <a:lnT w="3816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100%</a:t>
                      </a:r>
                      <a:endParaRPr lang="pt-BR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 anchor="ctr">
                    <a:lnL w="38160">
                      <a:solidFill>
                        <a:srgbClr val="FFFFFF"/>
                      </a:solidFill>
                    </a:lnL>
                    <a:lnR w="38160">
                      <a:solidFill>
                        <a:srgbClr val="FFFFFF"/>
                      </a:solidFill>
                    </a:lnR>
                    <a:lnT w="3816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kern="1200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+mn-cs"/>
                        </a:rPr>
                        <a:t>100%</a:t>
                      </a:r>
                      <a:endParaRPr lang="pt-BR" kern="1200">
                        <a:cs typeface="+mn-cs"/>
                      </a:endParaRPr>
                    </a:p>
                  </a:txBody>
                  <a:tcPr marL="91080" marR="91080" anchor="ctr">
                    <a:lnL w="38160">
                      <a:solidFill>
                        <a:srgbClr val="FFFFFF"/>
                      </a:solidFill>
                    </a:lnL>
                    <a:lnR w="38160">
                      <a:solidFill>
                        <a:srgbClr val="FFFFFF"/>
                      </a:solidFill>
                    </a:lnR>
                    <a:lnT w="3816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strike="noStrike" kern="1200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+mn-cs"/>
                        </a:rPr>
                        <a:t>96,7%</a:t>
                      </a:r>
                    </a:p>
                  </a:txBody>
                  <a:tcPr marL="91080" marR="91080" anchor="ctr">
                    <a:lnL w="38160">
                      <a:solidFill>
                        <a:srgbClr val="FFFFFF"/>
                      </a:solidFill>
                    </a:lnL>
                    <a:lnR w="38160">
                      <a:solidFill>
                        <a:srgbClr val="FFFFFF"/>
                      </a:solidFill>
                    </a:lnR>
                    <a:lnT w="3816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9891">
                <a:tc row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700" b="1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UPA Vargem das Flores</a:t>
                      </a:r>
                      <a:endParaRPr lang="pt-BR" sz="17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 anchor="ctr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872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pt-BR" sz="1800" b="1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Clínica Médica</a:t>
                      </a:r>
                      <a:endParaRPr lang="pt-BR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100%</a:t>
                      </a:r>
                      <a:endParaRPr lang="pt-BR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100%</a:t>
                      </a:r>
                      <a:endParaRPr lang="pt-BR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  <a:tabLst>
                          <a:tab pos="0" algn="l"/>
                        </a:tabLst>
                      </a:pPr>
                      <a:r>
                        <a:rPr lang="pt-BR" sz="1400" b="0" strike="noStrike" spc="-1">
                          <a:solidFill>
                            <a:srgbClr val="000000"/>
                          </a:solidFill>
                          <a:latin typeface="Arial"/>
                          <a:ea typeface="Calibri"/>
                        </a:rPr>
                        <a:t>100%</a:t>
                      </a:r>
                      <a:endParaRPr lang="pt-BR" sz="1400" b="0">
                        <a:latin typeface="Arial"/>
                      </a:endParaRPr>
                    </a:p>
                  </a:txBody>
                  <a:tcPr marL="91080" marR="9108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100%</a:t>
                      </a:r>
                    </a:p>
                  </a:txBody>
                  <a:tcPr marL="91080" marR="9108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8691">
                <a:tc vMerge="1">
                  <a:txBody>
                    <a:bodyPr/>
                    <a:lstStyle/>
                    <a:p>
                      <a:endParaRPr lang="pt-BR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800" b="1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Cirurgia</a:t>
                      </a:r>
                      <a:endParaRPr lang="pt-BR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100%</a:t>
                      </a:r>
                      <a:endParaRPr lang="pt-BR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100%</a:t>
                      </a:r>
                      <a:endParaRPr lang="pt-BR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100%</a:t>
                      </a:r>
                      <a:endParaRPr lang="pt-BR"/>
                    </a:p>
                  </a:txBody>
                  <a:tcPr marL="91080" marR="9108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96,7%</a:t>
                      </a:r>
                    </a:p>
                  </a:txBody>
                  <a:tcPr marL="91080" marR="9108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8691">
                <a:tc vMerge="1">
                  <a:txBody>
                    <a:bodyPr/>
                    <a:lstStyle/>
                    <a:p>
                      <a:endParaRPr lang="pt-BR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800" b="1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Pediatria</a:t>
                      </a:r>
                      <a:endParaRPr lang="pt-BR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spc="-1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100%</a:t>
                      </a:r>
                      <a:endParaRPr lang="pt-BR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936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spc="-1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100%</a:t>
                      </a:r>
                      <a:endParaRPr lang="pt-BR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936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spc="-1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100%</a:t>
                      </a:r>
                      <a:endParaRPr lang="pt-BR"/>
                    </a:p>
                  </a:txBody>
                  <a:tcPr marL="91080" marR="9108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936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strike="noStrike" spc="-1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100%</a:t>
                      </a:r>
                    </a:p>
                  </a:txBody>
                  <a:tcPr marL="91080" marR="9108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936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9891">
                <a:tc row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700" b="1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UPA Ressaca</a:t>
                      </a:r>
                      <a:endParaRPr lang="pt-BR" sz="17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 anchor="ctr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pt-BR" sz="1800" b="1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Clínica Médica</a:t>
                      </a:r>
                      <a:endParaRPr lang="pt-BR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100%</a:t>
                      </a:r>
                      <a:endParaRPr lang="pt-BR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936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100%</a:t>
                      </a:r>
                      <a:endParaRPr lang="pt-BR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936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100%</a:t>
                      </a:r>
                      <a:endParaRPr lang="pt-BR"/>
                    </a:p>
                  </a:txBody>
                  <a:tcPr marL="91080" marR="9108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936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100%</a:t>
                      </a:r>
                    </a:p>
                  </a:txBody>
                  <a:tcPr marL="91080" marR="9108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936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8691">
                <a:tc vMerge="1">
                  <a:txBody>
                    <a:bodyPr/>
                    <a:lstStyle/>
                    <a:p>
                      <a:endParaRPr lang="pt-BR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800" b="1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Cirurgia</a:t>
                      </a:r>
                      <a:endParaRPr lang="pt-BR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100%</a:t>
                      </a:r>
                      <a:endParaRPr lang="pt-BR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100%</a:t>
                      </a:r>
                      <a:endParaRPr lang="pt-BR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100%</a:t>
                      </a:r>
                      <a:endParaRPr lang="pt-BR"/>
                    </a:p>
                  </a:txBody>
                  <a:tcPr marL="91080" marR="9108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100%</a:t>
                      </a:r>
                    </a:p>
                  </a:txBody>
                  <a:tcPr marL="91080" marR="9108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8691">
                <a:tc vMerge="1">
                  <a:txBody>
                    <a:bodyPr/>
                    <a:lstStyle/>
                    <a:p>
                      <a:endParaRPr lang="pt-BR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800" b="1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Pediatria</a:t>
                      </a:r>
                      <a:endParaRPr lang="pt-BR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100%</a:t>
                      </a:r>
                      <a:endParaRPr lang="pt-BR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936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96%</a:t>
                      </a:r>
                      <a:endParaRPr lang="pt-BR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936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76%</a:t>
                      </a:r>
                      <a:endParaRPr lang="pt-BR"/>
                    </a:p>
                  </a:txBody>
                  <a:tcPr marL="91080" marR="9108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936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b="1" strike="noStrike" spc="-1">
                        <a:solidFill>
                          <a:srgbClr val="000000"/>
                        </a:solidFill>
                        <a:latin typeface="Calibri"/>
                        <a:ea typeface="Calibri"/>
                      </a:endParaRPr>
                    </a:p>
                  </a:txBody>
                  <a:tcPr marL="91080" marR="9108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936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7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700" b="1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UPA Petrolândia</a:t>
                      </a:r>
                      <a:endParaRPr lang="pt-BR" sz="17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 anchor="ctr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pt-BR" sz="1800" b="1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Clínica Médica</a:t>
                      </a:r>
                      <a:endParaRPr lang="pt-BR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spc="-1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100%</a:t>
                      </a:r>
                      <a:endParaRPr lang="pt-BR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9360">
                      <a:solidFill>
                        <a:srgbClr val="FFFFFF"/>
                      </a:solidFill>
                    </a:lnT>
                    <a:lnB w="936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spc="-1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100%</a:t>
                      </a:r>
                      <a:endParaRPr lang="pt-BR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9360">
                      <a:solidFill>
                        <a:srgbClr val="FFFFFF"/>
                      </a:solidFill>
                    </a:lnT>
                    <a:lnB w="936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spc="-1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100%</a:t>
                      </a:r>
                      <a:endParaRPr lang="pt-BR"/>
                    </a:p>
                  </a:txBody>
                  <a:tcPr marL="91080" marR="9108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9360">
                      <a:solidFill>
                        <a:srgbClr val="FFFFFF"/>
                      </a:solidFill>
                    </a:lnT>
                    <a:lnB w="936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strike="noStrike" spc="-1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100%</a:t>
                      </a:r>
                    </a:p>
                  </a:txBody>
                  <a:tcPr marL="91080" marR="9108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9360">
                      <a:solidFill>
                        <a:srgbClr val="FFFFFF"/>
                      </a:solidFill>
                    </a:lnT>
                    <a:lnB w="936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9891">
                <a:tc rowSpan="4"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</a:pPr>
                      <a:r>
                        <a:rPr lang="pt-BR" sz="1700" b="1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UPA Industrial</a:t>
                      </a:r>
                    </a:p>
                  </a:txBody>
                  <a:tcPr marL="91080" marR="91080" anchor="ctr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4999"/>
                        </a:lnSpc>
                        <a:buNone/>
                      </a:pPr>
                      <a:r>
                        <a:rPr lang="pt-BR" sz="1800" b="1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Clínica médica</a:t>
                      </a:r>
                    </a:p>
                  </a:txBody>
                  <a:tcPr marL="9360" marR="9360" anchor="ctr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spc="-1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-</a:t>
                      </a:r>
                    </a:p>
                  </a:txBody>
                  <a:tcPr marL="91080" marR="9108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9360">
                      <a:solidFill>
                        <a:srgbClr val="FFFFFF"/>
                      </a:solidFill>
                    </a:lnT>
                    <a:lnB w="936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spc="-1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-</a:t>
                      </a:r>
                    </a:p>
                  </a:txBody>
                  <a:tcPr marL="91080" marR="9108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9360">
                      <a:solidFill>
                        <a:srgbClr val="FFFFFF"/>
                      </a:solidFill>
                    </a:lnT>
                    <a:lnB w="936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spc="-1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100%</a:t>
                      </a:r>
                    </a:p>
                  </a:txBody>
                  <a:tcPr marL="91080" marR="9108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9360">
                      <a:solidFill>
                        <a:srgbClr val="FFFFFF"/>
                      </a:solidFill>
                    </a:lnT>
                    <a:lnB w="936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BR" sz="1600" b="1" strike="noStrike" spc="-1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100%</a:t>
                      </a:r>
                    </a:p>
                  </a:txBody>
                  <a:tcPr marL="91080" marR="9108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9360">
                      <a:solidFill>
                        <a:srgbClr val="FFFFFF"/>
                      </a:solidFill>
                    </a:lnT>
                    <a:lnB w="936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0456487"/>
                  </a:ext>
                </a:extLst>
              </a:tr>
              <a:tr h="339891">
                <a:tc vMerge="1">
                  <a:txBody>
                    <a:bodyPr/>
                    <a:lstStyle/>
                    <a:p>
                      <a:pPr>
                        <a:tabLst>
                          <a:tab pos="0" algn="l"/>
                        </a:tabLst>
                      </a:pPr>
                      <a:endParaRPr lang="pt-BR"/>
                    </a:p>
                  </a:txBody>
                  <a:tcPr marL="91080" marR="91080" anchor="ctr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4999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800" b="1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Pediatria</a:t>
                      </a:r>
                    </a:p>
                  </a:txBody>
                  <a:tcPr marL="9360" marR="9360" anchor="ctr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spc="-1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-</a:t>
                      </a:r>
                    </a:p>
                  </a:txBody>
                  <a:tcPr marL="91080" marR="9108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9360">
                      <a:solidFill>
                        <a:srgbClr val="FFFFFF"/>
                      </a:solidFill>
                    </a:lnT>
                    <a:lnB w="936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spc="-1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-</a:t>
                      </a:r>
                    </a:p>
                  </a:txBody>
                  <a:tcPr marL="91080" marR="9108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9360">
                      <a:solidFill>
                        <a:srgbClr val="FFFFFF"/>
                      </a:solidFill>
                    </a:lnT>
                    <a:lnB w="936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spc="-1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100%</a:t>
                      </a:r>
                    </a:p>
                  </a:txBody>
                  <a:tcPr marL="91080" marR="9108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9360">
                      <a:solidFill>
                        <a:srgbClr val="FFFFFF"/>
                      </a:solidFill>
                    </a:lnT>
                    <a:lnB w="936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BR" sz="1600" b="1" strike="noStrike" spc="-1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100%</a:t>
                      </a:r>
                    </a:p>
                  </a:txBody>
                  <a:tcPr marL="91080" marR="9108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9360">
                      <a:solidFill>
                        <a:srgbClr val="FFFFFF"/>
                      </a:solidFill>
                    </a:lnT>
                    <a:lnB w="936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0272049"/>
                  </a:ext>
                </a:extLst>
              </a:tr>
              <a:tr h="339891">
                <a:tc vMerge="1">
                  <a:txBody>
                    <a:bodyPr/>
                    <a:lstStyle/>
                    <a:p>
                      <a:pPr>
                        <a:tabLst>
                          <a:tab pos="0" algn="l"/>
                        </a:tabLst>
                      </a:pPr>
                      <a:endParaRPr lang="pt-BR"/>
                    </a:p>
                  </a:txBody>
                  <a:tcPr marL="91080" marR="91080" anchor="ctr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4999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800" b="1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Cirurgia</a:t>
                      </a:r>
                    </a:p>
                  </a:txBody>
                  <a:tcPr marL="9360" marR="9360" anchor="ctr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spc="-1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-</a:t>
                      </a:r>
                    </a:p>
                  </a:txBody>
                  <a:tcPr marL="91080" marR="9108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9360">
                      <a:solidFill>
                        <a:srgbClr val="FFFFFF"/>
                      </a:solidFill>
                    </a:lnT>
                    <a:lnB w="936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spc="-1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-</a:t>
                      </a:r>
                    </a:p>
                  </a:txBody>
                  <a:tcPr marL="91080" marR="9108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9360">
                      <a:solidFill>
                        <a:srgbClr val="FFFFFF"/>
                      </a:solidFill>
                    </a:lnT>
                    <a:lnB w="936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spc="-1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100%</a:t>
                      </a:r>
                    </a:p>
                  </a:txBody>
                  <a:tcPr marL="91080" marR="9108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9360">
                      <a:solidFill>
                        <a:srgbClr val="FFFFFF"/>
                      </a:solidFill>
                    </a:lnT>
                    <a:lnB w="936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BR" sz="1600" b="1" strike="noStrike" spc="-1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99%</a:t>
                      </a:r>
                    </a:p>
                  </a:txBody>
                  <a:tcPr marL="91080" marR="9108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9360">
                      <a:solidFill>
                        <a:srgbClr val="FFFFFF"/>
                      </a:solidFill>
                    </a:lnT>
                    <a:lnB w="936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7851158"/>
                  </a:ext>
                </a:extLst>
              </a:tr>
              <a:tr h="339891">
                <a:tc vMerge="1">
                  <a:txBody>
                    <a:bodyPr/>
                    <a:lstStyle/>
                    <a:p>
                      <a:pPr>
                        <a:tabLst>
                          <a:tab pos="0" algn="l"/>
                        </a:tabLst>
                      </a:pPr>
                      <a:endParaRPr lang="pt-BR"/>
                    </a:p>
                  </a:txBody>
                  <a:tcPr marL="91080" marR="91080" anchor="ctr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4999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800" b="1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Ortopedia</a:t>
                      </a:r>
                    </a:p>
                  </a:txBody>
                  <a:tcPr marL="9360" marR="9360" anchor="ctr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spc="-1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-</a:t>
                      </a:r>
                    </a:p>
                  </a:txBody>
                  <a:tcPr marL="91080" marR="9108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9360">
                      <a:solidFill>
                        <a:srgbClr val="FFFFFF"/>
                      </a:solidFill>
                    </a:lnT>
                    <a:lnB w="936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spc="-1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-</a:t>
                      </a:r>
                    </a:p>
                  </a:txBody>
                  <a:tcPr marL="91080" marR="9108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9360">
                      <a:solidFill>
                        <a:srgbClr val="FFFFFF"/>
                      </a:solidFill>
                    </a:lnT>
                    <a:lnB w="936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spc="-1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100%</a:t>
                      </a:r>
                    </a:p>
                  </a:txBody>
                  <a:tcPr marL="91080" marR="9108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9360">
                      <a:solidFill>
                        <a:srgbClr val="FFFFFF"/>
                      </a:solidFill>
                    </a:lnT>
                    <a:lnB w="936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BR" sz="1600" b="1" strike="noStrike" spc="-1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100%</a:t>
                      </a:r>
                    </a:p>
                  </a:txBody>
                  <a:tcPr marL="91080" marR="9108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9360">
                      <a:solidFill>
                        <a:srgbClr val="FFFFFF"/>
                      </a:solidFill>
                    </a:lnT>
                    <a:lnB w="936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9394195"/>
                  </a:ext>
                </a:extLst>
              </a:tr>
              <a:tr h="29869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700" b="1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TOTAL GERAL</a:t>
                      </a:r>
                      <a:endParaRPr lang="pt-BR" sz="17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 anchor="ctr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800" b="0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-</a:t>
                      </a:r>
                      <a:endParaRPr lang="pt-BR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spc="-1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99,9%</a:t>
                      </a:r>
                      <a:endParaRPr lang="pt-BR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936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spc="-1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99,6%</a:t>
                      </a:r>
                      <a:endParaRPr lang="pt-BR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936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spc="-1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97%</a:t>
                      </a:r>
                      <a:endParaRPr lang="pt-BR"/>
                    </a:p>
                  </a:txBody>
                  <a:tcPr marL="91080" marR="9108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936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b="1" strike="noStrike" spc="-1">
                        <a:solidFill>
                          <a:schemeClr val="dk1"/>
                        </a:solidFill>
                        <a:latin typeface="Calibri"/>
                        <a:ea typeface="Calibri"/>
                      </a:endParaRPr>
                    </a:p>
                  </a:txBody>
                  <a:tcPr marL="91080" marR="9108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936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6B8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Google Shape;203;p14"/>
          <p:cNvPicPr/>
          <p:nvPr/>
        </p:nvPicPr>
        <p:blipFill>
          <a:blip r:embed="rId2"/>
          <a:srcRect r="65499"/>
          <a:stretch/>
        </p:blipFill>
        <p:spPr>
          <a:xfrm>
            <a:off x="-465120" y="0"/>
            <a:ext cx="3830400" cy="6857640"/>
          </a:xfrm>
          <a:prstGeom prst="rect">
            <a:avLst/>
          </a:prstGeom>
          <a:ln w="0">
            <a:noFill/>
          </a:ln>
        </p:spPr>
      </p:pic>
      <p:pic>
        <p:nvPicPr>
          <p:cNvPr id="249" name="Google Shape;204;p14"/>
          <p:cNvPicPr/>
          <p:nvPr/>
        </p:nvPicPr>
        <p:blipFill>
          <a:blip r:embed="rId3"/>
          <a:stretch/>
        </p:blipFill>
        <p:spPr>
          <a:xfrm>
            <a:off x="198360" y="5899320"/>
            <a:ext cx="1904760" cy="738000"/>
          </a:xfrm>
          <a:prstGeom prst="rect">
            <a:avLst/>
          </a:prstGeom>
          <a:ln w="0">
            <a:noFill/>
          </a:ln>
        </p:spPr>
      </p:pic>
      <p:sp>
        <p:nvSpPr>
          <p:cNvPr id="250" name="Google Shape;205;p14"/>
          <p:cNvSpPr/>
          <p:nvPr/>
        </p:nvSpPr>
        <p:spPr>
          <a:xfrm>
            <a:off x="-179280" y="11160"/>
            <a:ext cx="8496000" cy="531360"/>
          </a:xfrm>
          <a:prstGeom prst="homePlate">
            <a:avLst>
              <a:gd name="adj" fmla="val 21317"/>
            </a:avLst>
          </a:prstGeom>
          <a:solidFill>
            <a:srgbClr val="B33259"/>
          </a:solidFill>
          <a:ln w="0">
            <a:noFill/>
          </a:ln>
          <a:effectLst>
            <a:outerShdw blurRad="63360" sx="102000" sy="102000">
              <a:srgbClr val="000000">
                <a:alpha val="3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>
              <a:lnSpc>
                <a:spcPct val="115000"/>
              </a:lnSpc>
              <a:tabLst>
                <a:tab pos="0" algn="l"/>
              </a:tabLst>
            </a:pPr>
            <a:r>
              <a:rPr lang="pt-BR" sz="2000" b="1" strike="noStrike" spc="-1">
                <a:solidFill>
                  <a:srgbClr val="FFFFFF"/>
                </a:solidFill>
                <a:latin typeface="Calibri"/>
                <a:ea typeface="Calibri"/>
              </a:rPr>
              <a:t> PERFIL ÓBITOS  UNIDADES DE PRONTO ATENDIMENTO </a:t>
            </a:r>
            <a:endParaRPr lang="pt-BR" sz="2000" b="0" strike="noStrike" spc="-1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51" name="Google Shape;206;p14"/>
          <p:cNvGraphicFramePr/>
          <p:nvPr>
            <p:extLst>
              <p:ext uri="{D42A27DB-BD31-4B8C-83A1-F6EECF244321}">
                <p14:modId xmlns:p14="http://schemas.microsoft.com/office/powerpoint/2010/main" val="2752845126"/>
              </p:ext>
            </p:extLst>
          </p:nvPr>
        </p:nvGraphicFramePr>
        <p:xfrm>
          <a:off x="2372264" y="445698"/>
          <a:ext cx="9608298" cy="7053518"/>
        </p:xfrm>
        <a:graphic>
          <a:graphicData uri="http://schemas.openxmlformats.org/drawingml/2006/table">
            <a:tbl>
              <a:tblPr/>
              <a:tblGrid>
                <a:gridCol w="21279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95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39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41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45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4815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0887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pt-BR" sz="1800" b="1" strike="noStrike" spc="-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Unidade</a:t>
                      </a:r>
                      <a:endParaRPr lang="pt-BR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B311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pt-BR" sz="1800" b="1" strike="noStrike" spc="-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Indicador</a:t>
                      </a:r>
                      <a:endParaRPr lang="pt-BR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B3116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3999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400" b="1" strike="noStrike" spc="-1">
                          <a:solidFill>
                            <a:srgbClr val="FFFFFF"/>
                          </a:solidFill>
                          <a:latin typeface="Calibri"/>
                        </a:rPr>
                        <a:t>JULHO</a:t>
                      </a:r>
                      <a:endParaRPr lang="pt-BR" sz="14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B3116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3999"/>
                        </a:lnSpc>
                        <a:buNone/>
                      </a:pPr>
                      <a:r>
                        <a:rPr lang="pt-BR" sz="1400" b="1" strike="noStrike" spc="-1">
                          <a:solidFill>
                            <a:srgbClr val="FFFFFF"/>
                          </a:solidFill>
                          <a:latin typeface="Calibri"/>
                        </a:rPr>
                        <a:t>AGOSTO </a:t>
                      </a:r>
                      <a:endParaRPr lang="pt-BR" sz="14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B3116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3999"/>
                        </a:lnSpc>
                        <a:buNone/>
                      </a:pPr>
                      <a:r>
                        <a:rPr lang="pt-BR" sz="1400" b="1" strike="noStrike" spc="-1">
                          <a:solidFill>
                            <a:srgbClr val="FFFFFF"/>
                          </a:solidFill>
                          <a:latin typeface="Calibri"/>
                        </a:rPr>
                        <a:t>SETEMBRO</a:t>
                      </a:r>
                      <a:endParaRPr lang="pt-BR" sz="14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B311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4000"/>
                        </a:lnSpc>
                        <a:tabLst>
                          <a:tab pos="0" algn="l"/>
                        </a:tabLst>
                      </a:pPr>
                      <a:r>
                        <a:rPr lang="pt-BR" sz="1400" b="1" strike="noStrike" spc="-1">
                          <a:solidFill>
                            <a:srgbClr val="FFFFFF"/>
                          </a:solidFill>
                          <a:latin typeface="Calibri"/>
                        </a:rPr>
                        <a:t>OUTUBRO</a:t>
                      </a: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B311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25">
                <a:tc rowSpan="5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pt-BR" sz="2400" b="1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UPA JK</a:t>
                      </a:r>
                      <a:endParaRPr lang="pt-BR" sz="24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pt-BR" sz="1400" b="1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Óbitos &lt; 24 horas </a:t>
                      </a:r>
                      <a:endParaRPr lang="pt-BR" sz="14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9</a:t>
                      </a:r>
                      <a:endParaRPr lang="pt-BR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12</a:t>
                      </a:r>
                      <a:endParaRPr lang="pt-BR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kern="1200" spc="-1">
                          <a:solidFill>
                            <a:srgbClr val="000000"/>
                          </a:solidFill>
                          <a:latin typeface="Calibri"/>
                          <a:cs typeface="+mn-cs"/>
                        </a:rPr>
                        <a:t>3</a:t>
                      </a:r>
                      <a:endParaRPr lang="pt-BR"/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>
                        <a:lnSpc>
                          <a:spcPct val="100000"/>
                        </a:lnSpc>
                        <a:buNone/>
                      </a:pPr>
                      <a:endParaRPr lang="pt-BR" sz="1600" b="1" strike="noStrike" kern="1200" spc="-1">
                        <a:solidFill>
                          <a:srgbClr val="000000"/>
                        </a:solidFill>
                        <a:latin typeface="Calibri"/>
                        <a:cs typeface="+mn-cs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25">
                <a:tc vMerge="1">
                  <a:txBody>
                    <a:bodyPr/>
                    <a:lstStyle/>
                    <a:p>
                      <a:endParaRPr lang="pt-BR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pt-BR" sz="1400" b="1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Óbitos &gt; 24 horas </a:t>
                      </a:r>
                      <a:endParaRPr lang="pt-BR" sz="14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15</a:t>
                      </a:r>
                      <a:endParaRPr lang="pt-BR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14</a:t>
                      </a:r>
                      <a:endParaRPr lang="pt-BR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rtl="0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kern="1200" spc="-1">
                          <a:solidFill>
                            <a:srgbClr val="000000"/>
                          </a:solidFill>
                          <a:latin typeface="Calibri"/>
                          <a:cs typeface="+mn-cs"/>
                        </a:rPr>
                        <a:t>22</a:t>
                      </a:r>
                      <a:endParaRPr lang="pt-BR"/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pt-BR" sz="1600" b="1" strike="noStrike" kern="1200" spc="-1">
                        <a:solidFill>
                          <a:srgbClr val="000000"/>
                        </a:solidFill>
                        <a:latin typeface="Calibri"/>
                        <a:ea typeface="Calibri"/>
                        <a:cs typeface="+mn-cs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25">
                <a:tc vMerge="1">
                  <a:txBody>
                    <a:bodyPr/>
                    <a:lstStyle/>
                    <a:p>
                      <a:endParaRPr lang="pt-BR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pt-BR" sz="1400" b="1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Pacientes encaminhados ao IML </a:t>
                      </a:r>
                      <a:endParaRPr lang="pt-BR" sz="14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0</a:t>
                      </a:r>
                      <a:endParaRPr lang="pt-BR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0</a:t>
                      </a:r>
                      <a:endParaRPr lang="pt-BR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rtl="0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kern="1200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+mn-cs"/>
                        </a:rPr>
                        <a:t>0</a:t>
                      </a:r>
                      <a:endParaRPr lang="pt-BR" kern="1200">
                        <a:cs typeface="+mn-cs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pt-BR" sz="1600" b="1" strike="noStrike" kern="1200" spc="-1">
                        <a:solidFill>
                          <a:srgbClr val="000000"/>
                        </a:solidFill>
                        <a:latin typeface="Calibri"/>
                        <a:ea typeface="Calibri"/>
                        <a:cs typeface="+mn-cs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25">
                <a:tc vMerge="1">
                  <a:txBody>
                    <a:bodyPr/>
                    <a:lstStyle/>
                    <a:p>
                      <a:endParaRPr lang="pt-BR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pt-BR" sz="1400" b="1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Pacientes  Ênfase em conforto </a:t>
                      </a:r>
                      <a:endParaRPr lang="pt-BR" sz="14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7</a:t>
                      </a:r>
                      <a:endParaRPr lang="pt-BR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10</a:t>
                      </a:r>
                      <a:endParaRPr lang="pt-BR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rtl="0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kern="1200" spc="-1">
                          <a:solidFill>
                            <a:srgbClr val="000000"/>
                          </a:solidFill>
                          <a:latin typeface="Calibri"/>
                          <a:cs typeface="+mn-cs"/>
                        </a:rPr>
                        <a:t>9</a:t>
                      </a:r>
                      <a:endParaRPr lang="pt-BR"/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pt-BR" sz="1600" b="1" strike="noStrike" kern="1200" spc="-1">
                        <a:solidFill>
                          <a:srgbClr val="000000"/>
                        </a:solidFill>
                        <a:latin typeface="Calibri"/>
                        <a:ea typeface="Calibri"/>
                        <a:cs typeface="+mn-cs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425">
                <a:tc vMerge="1">
                  <a:txBody>
                    <a:bodyPr/>
                    <a:lstStyle/>
                    <a:p>
                      <a:endParaRPr lang="pt-BR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pt-BR" sz="1200" b="1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TOTAL DE ÓBITOS</a:t>
                      </a:r>
                      <a:endParaRPr lang="pt-BR" sz="12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</a:pPr>
                      <a:r>
                        <a:rPr lang="pt-BR" sz="1600" b="1" strike="noStrike" spc="-1">
                          <a:solidFill>
                            <a:srgbClr val="FF0000"/>
                          </a:solidFill>
                          <a:latin typeface="Calibri"/>
                          <a:ea typeface="Calibri"/>
                        </a:rPr>
                        <a:t>24 ( 5%)</a:t>
                      </a:r>
                      <a:endParaRPr lang="pt-BR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</a:pPr>
                      <a:r>
                        <a:rPr lang="pt-BR" sz="1600" b="1" strike="noStrike" spc="-1">
                          <a:solidFill>
                            <a:srgbClr val="FF0000"/>
                          </a:solidFill>
                          <a:latin typeface="Calibri"/>
                          <a:ea typeface="Calibri"/>
                        </a:rPr>
                        <a:t>26 ( 6%)</a:t>
                      </a:r>
                      <a:endParaRPr lang="pt-BR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BR" sz="1600" b="1" strike="noStrike" spc="-1">
                          <a:solidFill>
                            <a:srgbClr val="FF0000"/>
                          </a:solidFill>
                          <a:latin typeface="Calibri"/>
                          <a:ea typeface="Calibri"/>
                        </a:rPr>
                        <a:t>25 (5,6%)</a:t>
                      </a:r>
                      <a:endParaRPr lang="pt-BR"/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b="1" strike="noStrike" spc="-1">
                        <a:solidFill>
                          <a:srgbClr val="FF0000"/>
                        </a:solidFill>
                        <a:latin typeface="Calibri"/>
                        <a:ea typeface="Calibri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3425">
                <a:tc rowSpan="5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pt-BR" sz="2400" b="1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UPA Vargem das Flores</a:t>
                      </a:r>
                      <a:endParaRPr lang="pt-BR" sz="24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pt-BR" sz="1400" b="1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Óbitos &lt; 24 horas </a:t>
                      </a:r>
                      <a:endParaRPr lang="pt-BR" sz="14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  <a:endParaRPr lang="pt-BR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5</a:t>
                      </a:r>
                      <a:endParaRPr lang="pt-BR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  <a:endParaRPr lang="pt-BR"/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3</a:t>
                      </a: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3425">
                <a:tc vMerge="1">
                  <a:txBody>
                    <a:bodyPr/>
                    <a:lstStyle/>
                    <a:p>
                      <a:endParaRPr lang="pt-BR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pt-BR" sz="1400" b="1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Óbitos &gt; 24 horas </a:t>
                      </a:r>
                      <a:endParaRPr lang="pt-BR" sz="14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6</a:t>
                      </a:r>
                      <a:endParaRPr lang="pt-BR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6</a:t>
                      </a:r>
                      <a:endParaRPr lang="pt-BR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6</a:t>
                      </a:r>
                      <a:endParaRPr lang="pt-BR"/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2</a:t>
                      </a: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3425">
                <a:tc vMerge="1">
                  <a:txBody>
                    <a:bodyPr/>
                    <a:lstStyle/>
                    <a:p>
                      <a:endParaRPr lang="pt-BR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pt-BR" sz="1400" b="1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Pacientes encaminhados ao IML </a:t>
                      </a:r>
                      <a:endParaRPr lang="pt-BR" sz="14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  <a:endParaRPr lang="pt-BR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  <a:endParaRPr lang="pt-BR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  <a:endParaRPr lang="pt-BR"/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0</a:t>
                      </a: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3425">
                <a:tc vMerge="1">
                  <a:txBody>
                    <a:bodyPr/>
                    <a:lstStyle/>
                    <a:p>
                      <a:endParaRPr lang="pt-BR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pt-BR" sz="1400" b="1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Pacientes  Ênfase em conforto </a:t>
                      </a:r>
                      <a:endParaRPr lang="pt-BR" sz="14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  <a:endParaRPr lang="pt-BR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  <a:endParaRPr lang="pt-BR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  <a:endParaRPr lang="pt-BR"/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2</a:t>
                      </a: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3425">
                <a:tc vMerge="1">
                  <a:txBody>
                    <a:bodyPr/>
                    <a:lstStyle/>
                    <a:p>
                      <a:endParaRPr lang="pt-BR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pt-BR" sz="1200" b="1" strike="noStrike" spc="-1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TOTAL DE ÓBITOS</a:t>
                      </a:r>
                      <a:endParaRPr lang="pt-BR" sz="12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spc="-1">
                          <a:solidFill>
                            <a:srgbClr val="FF0000"/>
                          </a:solidFill>
                          <a:latin typeface="Calibri"/>
                          <a:ea typeface="Calibri"/>
                        </a:rPr>
                        <a:t>9(7%)</a:t>
                      </a:r>
                      <a:endParaRPr lang="pt-BR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spc="-1">
                          <a:solidFill>
                            <a:srgbClr val="FF0000"/>
                          </a:solidFill>
                          <a:latin typeface="Calibri"/>
                          <a:ea typeface="Calibri"/>
                        </a:rPr>
                        <a:t>13(1%)</a:t>
                      </a:r>
                      <a:endParaRPr lang="pt-BR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BR" sz="1600" b="1" strike="noStrike" spc="-1">
                          <a:solidFill>
                            <a:srgbClr val="FF0000"/>
                          </a:solidFill>
                          <a:latin typeface="Calibri"/>
                          <a:ea typeface="Calibri"/>
                        </a:rPr>
                        <a:t>9 (8%)</a:t>
                      </a:r>
                      <a:endParaRPr lang="pt-BR"/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strike="noStrike" spc="-1">
                          <a:solidFill>
                            <a:srgbClr val="FF0000"/>
                          </a:solidFill>
                          <a:latin typeface="Calibri"/>
                          <a:ea typeface="Calibri"/>
                        </a:rPr>
                        <a:t>5(5%)</a:t>
                      </a: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7659">
                <a:tc rowSpan="5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pt-BR" sz="2400" b="1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UPA Ressaca</a:t>
                      </a:r>
                      <a:endParaRPr lang="pt-BR" sz="24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pt-BR" sz="1100" b="1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Óbitos &lt; 24 horas </a:t>
                      </a:r>
                      <a:endParaRPr lang="pt-BR" sz="11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400" b="1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07</a:t>
                      </a:r>
                      <a:endParaRPr lang="pt-BR" sz="14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400" b="1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05</a:t>
                      </a:r>
                      <a:endParaRPr lang="pt-BR" sz="14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  <a:tabLst>
                          <a:tab pos="0" algn="l"/>
                        </a:tabLst>
                      </a:pPr>
                      <a:r>
                        <a:rPr lang="pt-BR" sz="1400" b="1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04</a:t>
                      </a:r>
                      <a:endParaRPr lang="pt-BR"/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08</a:t>
                      </a: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3425">
                <a:tc vMerge="1">
                  <a:txBody>
                    <a:bodyPr/>
                    <a:lstStyle/>
                    <a:p>
                      <a:endParaRPr lang="pt-BR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pt-BR" sz="1400" b="1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Óbitos &gt; 24 horas </a:t>
                      </a:r>
                      <a:endParaRPr lang="pt-BR" sz="14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08</a:t>
                      </a:r>
                      <a:endParaRPr lang="pt-BR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  <a:endParaRPr lang="pt-BR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05</a:t>
                      </a:r>
                      <a:endParaRPr lang="pt-BR"/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1</a:t>
                      </a: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3425">
                <a:tc vMerge="1">
                  <a:txBody>
                    <a:bodyPr/>
                    <a:lstStyle/>
                    <a:p>
                      <a:endParaRPr lang="pt-BR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pt-BR" sz="1400" b="1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Pacientes encaminhados ao IML </a:t>
                      </a:r>
                      <a:endParaRPr lang="pt-BR" sz="14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  <a:endParaRPr lang="pt-BR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04</a:t>
                      </a:r>
                      <a:endParaRPr lang="pt-BR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01</a:t>
                      </a:r>
                      <a:endParaRPr lang="pt-BR"/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0</a:t>
                      </a: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3425">
                <a:tc vMerge="1">
                  <a:txBody>
                    <a:bodyPr/>
                    <a:lstStyle/>
                    <a:p>
                      <a:endParaRPr lang="pt-BR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pt-BR" sz="1400" b="1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Pacientes  Ênfase em conforto </a:t>
                      </a:r>
                      <a:endParaRPr lang="pt-BR" sz="14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02</a:t>
                      </a:r>
                      <a:endParaRPr lang="pt-BR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03</a:t>
                      </a:r>
                      <a:endParaRPr lang="pt-BR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02</a:t>
                      </a:r>
                      <a:endParaRPr lang="pt-BR"/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02</a:t>
                      </a: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83425">
                <a:tc vMerge="1">
                  <a:txBody>
                    <a:bodyPr/>
                    <a:lstStyle/>
                    <a:p>
                      <a:endParaRPr lang="pt-BR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pt-BR" sz="1200" b="1" strike="noStrike" spc="-1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TOTAL DE ÓBITOS</a:t>
                      </a:r>
                      <a:endParaRPr lang="pt-BR" sz="12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</a:pPr>
                      <a:r>
                        <a:rPr lang="pt-BR" sz="1600" b="1" strike="noStrike" spc="-1">
                          <a:solidFill>
                            <a:srgbClr val="FF0000"/>
                          </a:solidFill>
                          <a:latin typeface="Calibri"/>
                          <a:ea typeface="Calibri"/>
                        </a:rPr>
                        <a:t>15 (6,4)</a:t>
                      </a:r>
                      <a:endParaRPr lang="pt-BR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</a:pPr>
                      <a:r>
                        <a:rPr lang="pt-BR" sz="1600" b="1" strike="noStrike" spc="-1">
                          <a:solidFill>
                            <a:srgbClr val="FF0000"/>
                          </a:solidFill>
                          <a:latin typeface="Calibri"/>
                          <a:ea typeface="Calibri"/>
                        </a:rPr>
                        <a:t>09 (2,7%)</a:t>
                      </a:r>
                      <a:endParaRPr lang="pt-BR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BR" sz="1600" b="1" strike="noStrike" spc="-1">
                          <a:solidFill>
                            <a:srgbClr val="FF0000"/>
                          </a:solidFill>
                          <a:latin typeface="Calibri"/>
                          <a:ea typeface="Calibri"/>
                        </a:rPr>
                        <a:t>10 (2%)</a:t>
                      </a:r>
                      <a:endParaRPr lang="pt-BR"/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strike="noStrike" spc="-1">
                          <a:solidFill>
                            <a:srgbClr val="FF0000"/>
                          </a:solidFill>
                          <a:latin typeface="Calibri"/>
                          <a:ea typeface="Calibri"/>
                        </a:rPr>
                        <a:t>09 (</a:t>
                      </a: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83425">
                <a:tc rowSpan="5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pt-BR" sz="2400" b="1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UPA Petrolândia</a:t>
                      </a:r>
                      <a:endParaRPr lang="pt-BR" sz="24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pt-BR" sz="1400" b="1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Óbitos &lt; 24 horas </a:t>
                      </a:r>
                      <a:endParaRPr lang="pt-BR" sz="14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08</a:t>
                      </a:r>
                      <a:endParaRPr lang="pt-BR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03</a:t>
                      </a:r>
                      <a:endParaRPr lang="pt-BR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02</a:t>
                      </a:r>
                      <a:endParaRPr lang="pt-BR"/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03</a:t>
                      </a: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83425">
                <a:tc vMerge="1">
                  <a:txBody>
                    <a:bodyPr/>
                    <a:lstStyle/>
                    <a:p>
                      <a:endParaRPr lang="pt-BR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pt-BR" sz="1400" b="1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Óbitos &gt; 24 horas </a:t>
                      </a:r>
                      <a:endParaRPr lang="pt-BR" sz="14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06</a:t>
                      </a:r>
                      <a:endParaRPr lang="pt-BR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02</a:t>
                      </a:r>
                      <a:endParaRPr lang="pt-BR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06</a:t>
                      </a:r>
                      <a:endParaRPr lang="pt-BR"/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10</a:t>
                      </a: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83425">
                <a:tc vMerge="1">
                  <a:txBody>
                    <a:bodyPr/>
                    <a:lstStyle/>
                    <a:p>
                      <a:endParaRPr lang="pt-BR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pt-BR" sz="1400" b="1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Pacientes encaminhados ao IML </a:t>
                      </a:r>
                      <a:endParaRPr lang="pt-BR" sz="14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00</a:t>
                      </a:r>
                      <a:endParaRPr lang="pt-BR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00</a:t>
                      </a:r>
                      <a:endParaRPr lang="pt-BR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00</a:t>
                      </a:r>
                      <a:endParaRPr lang="pt-BR"/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00</a:t>
                      </a: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83425">
                <a:tc vMerge="1">
                  <a:txBody>
                    <a:bodyPr/>
                    <a:lstStyle/>
                    <a:p>
                      <a:endParaRPr lang="pt-BR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pt-BR" sz="1400" b="1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Pacientes  Ênfase em conforto </a:t>
                      </a:r>
                      <a:endParaRPr lang="pt-BR" sz="14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02</a:t>
                      </a:r>
                      <a:endParaRPr lang="pt-BR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03</a:t>
                      </a:r>
                      <a:endParaRPr lang="pt-BR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  <a:tabLst>
                          <a:tab pos="0" algn="l"/>
                        </a:tabLst>
                      </a:pPr>
                      <a:r>
                        <a:rPr lang="pt-BR" sz="1600" b="1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06</a:t>
                      </a:r>
                      <a:endParaRPr lang="pt-BR"/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04</a:t>
                      </a: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57659">
                <a:tc vMerge="1">
                  <a:txBody>
                    <a:bodyPr/>
                    <a:lstStyle/>
                    <a:p>
                      <a:endParaRPr lang="pt-BR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pt-BR" sz="1100" b="1" strike="noStrike" spc="-1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TOTAL DE ÓBITOS</a:t>
                      </a:r>
                      <a:endParaRPr lang="pt-BR" sz="11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</a:pPr>
                      <a:r>
                        <a:rPr lang="pt-BR" sz="1400" b="1" strike="noStrike" spc="-1">
                          <a:solidFill>
                            <a:srgbClr val="FF0000"/>
                          </a:solidFill>
                          <a:latin typeface="Calibri"/>
                          <a:ea typeface="Calibri"/>
                        </a:rPr>
                        <a:t>14 (9,6%)</a:t>
                      </a:r>
                      <a:endParaRPr lang="pt-BR" sz="14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pt-BR" sz="1400" b="1" strike="noStrike" spc="-1">
                          <a:solidFill>
                            <a:srgbClr val="FF0000"/>
                          </a:solidFill>
                          <a:latin typeface="Calibri"/>
                          <a:ea typeface="Calibri"/>
                        </a:rPr>
                        <a:t>05(3%)</a:t>
                      </a:r>
                      <a:endParaRPr lang="pt-BR" sz="14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BR" sz="1400" b="1" strike="noStrike" spc="-1">
                          <a:solidFill>
                            <a:srgbClr val="FF0000"/>
                          </a:solidFill>
                          <a:latin typeface="Calibri"/>
                          <a:ea typeface="Calibri"/>
                        </a:rPr>
                        <a:t>8 (   )</a:t>
                      </a:r>
                      <a:endParaRPr lang="pt-BR"/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 strike="noStrike" spc="-1">
                          <a:solidFill>
                            <a:srgbClr val="FF0000"/>
                          </a:solidFill>
                          <a:latin typeface="Calibri"/>
                          <a:ea typeface="Calibri"/>
                        </a:rPr>
                        <a:t>13 (     )</a:t>
                      </a: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8" name="Google Shape;257;p18"/>
          <p:cNvGraphicFramePr/>
          <p:nvPr>
            <p:extLst>
              <p:ext uri="{D42A27DB-BD31-4B8C-83A1-F6EECF244321}">
                <p14:modId xmlns:p14="http://schemas.microsoft.com/office/powerpoint/2010/main" val="2149830955"/>
              </p:ext>
            </p:extLst>
          </p:nvPr>
        </p:nvGraphicFramePr>
        <p:xfrm>
          <a:off x="3619440" y="1152360"/>
          <a:ext cx="8440200" cy="5248800"/>
        </p:xfrm>
        <a:graphic>
          <a:graphicData uri="http://schemas.openxmlformats.org/drawingml/2006/table">
            <a:tbl>
              <a:tblPr/>
              <a:tblGrid>
                <a:gridCol w="2268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9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9504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pt-BR" sz="2100" b="1" strike="noStrike" spc="-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UNIDADE</a:t>
                      </a:r>
                      <a:endParaRPr lang="pt-BR" sz="21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B311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2100" b="1" strike="noStrike" spc="-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DIAS DE INSTABILIDADE E/OU INOPERÂNCIA</a:t>
                      </a:r>
                      <a:endParaRPr lang="pt-BR" sz="21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B311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pt-BR" sz="1900" b="1" strike="noStrike" spc="-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TOTAL DE DIAS</a:t>
                      </a:r>
                      <a:endParaRPr lang="pt-BR" sz="19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B311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33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22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JK</a:t>
                      </a:r>
                      <a:endParaRPr lang="pt-BR" sz="22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 strike="noStrike" spc="-1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09,13,14,15,21,22,23,26,27,28,30</a:t>
                      </a: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 strike="noStrike" spc="-1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11</a:t>
                      </a: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6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22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VARGEM DAS FLORES</a:t>
                      </a:r>
                      <a:endParaRPr lang="pt-BR" sz="22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 strike="noStrike" spc="-1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14,15,25/6,7</a:t>
                      </a: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 strike="noStrike" spc="-1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05</a:t>
                      </a: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063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22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RESSACA</a:t>
                      </a:r>
                      <a:endParaRPr lang="pt-BR" sz="22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 strike="noStrike" spc="-1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13,25</a:t>
                      </a: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 strike="noStrike" spc="-1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02</a:t>
                      </a: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5CC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72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2200" b="1" strike="noStrike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PETROLÂNDIA</a:t>
                      </a:r>
                      <a:endParaRPr lang="pt-BR" sz="22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 strike="noStrike" spc="-1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12,13,16,24 / 06,10</a:t>
                      </a: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 strike="noStrike" spc="-1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04 / 02</a:t>
                      </a:r>
                    </a:p>
                  </a:txBody>
                  <a:tcPr marL="9360" marR="9360"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E7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79" name="Google Shape;258;p18"/>
          <p:cNvSpPr/>
          <p:nvPr/>
        </p:nvSpPr>
        <p:spPr>
          <a:xfrm>
            <a:off x="3532320" y="6446880"/>
            <a:ext cx="5722560" cy="305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3360" bIns="15336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1000" b="1" strike="noStrike" spc="-1">
                <a:solidFill>
                  <a:srgbClr val="B31166"/>
                </a:solidFill>
                <a:latin typeface="Calibri"/>
                <a:ea typeface="Calibri"/>
              </a:rPr>
              <a:t>FONTE: RELATÓRIO DIÁRIO DAS UNIDADES - REGISTRO MANUAL</a:t>
            </a:r>
            <a:endParaRPr lang="pt-BR" sz="10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80" name="Google Shape;259;p18"/>
          <p:cNvPicPr/>
          <p:nvPr/>
        </p:nvPicPr>
        <p:blipFill>
          <a:blip r:embed="rId2"/>
          <a:srcRect r="65499"/>
          <a:stretch/>
        </p:blipFill>
        <p:spPr>
          <a:xfrm>
            <a:off x="0" y="0"/>
            <a:ext cx="3514320" cy="6857640"/>
          </a:xfrm>
          <a:prstGeom prst="rect">
            <a:avLst/>
          </a:prstGeom>
          <a:ln w="0">
            <a:noFill/>
          </a:ln>
        </p:spPr>
      </p:pic>
      <p:pic>
        <p:nvPicPr>
          <p:cNvPr id="281" name="Google Shape;260;p18"/>
          <p:cNvPicPr/>
          <p:nvPr/>
        </p:nvPicPr>
        <p:blipFill>
          <a:blip r:embed="rId3"/>
          <a:stretch/>
        </p:blipFill>
        <p:spPr>
          <a:xfrm>
            <a:off x="198360" y="5899320"/>
            <a:ext cx="1904760" cy="738000"/>
          </a:xfrm>
          <a:prstGeom prst="rect">
            <a:avLst/>
          </a:prstGeom>
          <a:ln w="0">
            <a:noFill/>
          </a:ln>
        </p:spPr>
      </p:pic>
      <p:sp>
        <p:nvSpPr>
          <p:cNvPr id="282" name="Google Shape;261;p18"/>
          <p:cNvSpPr/>
          <p:nvPr/>
        </p:nvSpPr>
        <p:spPr>
          <a:xfrm>
            <a:off x="378000" y="236520"/>
            <a:ext cx="9427680" cy="763200"/>
          </a:xfrm>
          <a:prstGeom prst="homePlate">
            <a:avLst>
              <a:gd name="adj" fmla="val 21238"/>
            </a:avLst>
          </a:prstGeom>
          <a:solidFill>
            <a:srgbClr val="B33259"/>
          </a:solidFill>
          <a:ln w="0">
            <a:noFill/>
          </a:ln>
          <a:effectLst>
            <a:outerShdw blurRad="63360" sx="102000" sy="102000">
              <a:srgbClr val="000000">
                <a:alpha val="3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2000" b="1" strike="noStrike" spc="-1">
                <a:solidFill>
                  <a:srgbClr val="FFFFFF"/>
                </a:solidFill>
                <a:latin typeface="Calibri"/>
                <a:ea typeface="Calibri"/>
              </a:rPr>
              <a:t>REGISTRO DOS DIAS EM QUE O SISTEMA SPDATA FICOU INOPERANTE OU APRESENTOU LENTIDÃO </a:t>
            </a:r>
            <a:endParaRPr lang="pt-BR" sz="2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" name="Google Shape;284;p25"/>
          <p:cNvPicPr/>
          <p:nvPr/>
        </p:nvPicPr>
        <p:blipFill>
          <a:blip r:embed="rId2"/>
          <a:stretch/>
        </p:blipFill>
        <p:spPr>
          <a:xfrm>
            <a:off x="198360" y="5899320"/>
            <a:ext cx="1904760" cy="738000"/>
          </a:xfrm>
          <a:prstGeom prst="rect">
            <a:avLst/>
          </a:prstGeom>
          <a:ln w="0">
            <a:noFill/>
          </a:ln>
        </p:spPr>
      </p:pic>
      <p:sp>
        <p:nvSpPr>
          <p:cNvPr id="288" name="Google Shape;285;p25"/>
          <p:cNvSpPr/>
          <p:nvPr/>
        </p:nvSpPr>
        <p:spPr>
          <a:xfrm>
            <a:off x="352440" y="1344600"/>
            <a:ext cx="4133520" cy="399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pt-BR" sz="4400" b="1" strike="noStrike" spc="-1">
                <a:solidFill>
                  <a:srgbClr val="FFFFFF"/>
                </a:solidFill>
                <a:latin typeface="Federo"/>
                <a:ea typeface="Federo"/>
              </a:rPr>
              <a:t>VOCÊS SÃO MUITO IMPORTANTES PARA O</a:t>
            </a: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pt-BR" sz="4000" b="1" strike="noStrike" spc="-1">
                <a:solidFill>
                  <a:srgbClr val="FFFFFF"/>
                </a:solidFill>
                <a:latin typeface="Federo"/>
                <a:ea typeface="Federo"/>
              </a:rPr>
              <a:t> SSA-CONTAGEM</a:t>
            </a:r>
            <a:endParaRPr lang="pt-BR" sz="40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89" name="Google Shape;286;p25"/>
          <p:cNvPicPr/>
          <p:nvPr/>
        </p:nvPicPr>
        <p:blipFill>
          <a:blip r:embed="rId3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sp>
        <p:nvSpPr>
          <p:cNvPr id="290" name="Google Shape;287;p25"/>
          <p:cNvSpPr/>
          <p:nvPr/>
        </p:nvSpPr>
        <p:spPr>
          <a:xfrm>
            <a:off x="1017720" y="629280"/>
            <a:ext cx="10163520" cy="63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pt-BR" sz="2900" b="0" strike="noStrike" spc="-1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291" name="Google Shape;288;p25"/>
          <p:cNvSpPr/>
          <p:nvPr/>
        </p:nvSpPr>
        <p:spPr>
          <a:xfrm>
            <a:off x="8176320" y="6089040"/>
            <a:ext cx="3960720" cy="761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4400" b="1" strike="noStrike" spc="-1">
                <a:solidFill>
                  <a:schemeClr val="lt1"/>
                </a:solidFill>
                <a:latin typeface="Arial"/>
                <a:ea typeface="Arial"/>
              </a:rPr>
              <a:t>OBRIGADA!</a:t>
            </a: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92" name="Google Shape;289;p25"/>
          <p:cNvPicPr/>
          <p:nvPr/>
        </p:nvPicPr>
        <p:blipFill>
          <a:blip r:embed="rId4"/>
          <a:stretch/>
        </p:blipFill>
        <p:spPr>
          <a:xfrm>
            <a:off x="1780200" y="551880"/>
            <a:ext cx="7893360" cy="52621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3" name="Google Shape;294;g246373b9294_0_58"/>
          <p:cNvPicPr/>
          <p:nvPr/>
        </p:nvPicPr>
        <p:blipFill>
          <a:blip r:embed="rId2"/>
          <a:stretch/>
        </p:blipFill>
        <p:spPr>
          <a:xfrm>
            <a:off x="198360" y="5899320"/>
            <a:ext cx="1904760" cy="738000"/>
          </a:xfrm>
          <a:prstGeom prst="rect">
            <a:avLst/>
          </a:prstGeom>
          <a:ln w="0">
            <a:noFill/>
          </a:ln>
        </p:spPr>
      </p:pic>
      <p:sp>
        <p:nvSpPr>
          <p:cNvPr id="294" name="Google Shape;295;g246373b9294_0_58"/>
          <p:cNvSpPr/>
          <p:nvPr/>
        </p:nvSpPr>
        <p:spPr>
          <a:xfrm>
            <a:off x="352440" y="1344600"/>
            <a:ext cx="4133520" cy="399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pt-BR" sz="4400" b="1" strike="noStrike" spc="-1">
                <a:solidFill>
                  <a:srgbClr val="FFFFFF"/>
                </a:solidFill>
                <a:latin typeface="Federo"/>
                <a:ea typeface="Federo"/>
              </a:rPr>
              <a:t>VOCÊS SÃO MUITO IMPORTANTES PARA O</a:t>
            </a: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pt-BR" sz="4000" b="1" strike="noStrike" spc="-1">
                <a:solidFill>
                  <a:srgbClr val="FFFFFF"/>
                </a:solidFill>
                <a:latin typeface="Federo"/>
                <a:ea typeface="Federo"/>
              </a:rPr>
              <a:t> SSA-CONTAGEM</a:t>
            </a:r>
            <a:endParaRPr lang="pt-BR" sz="40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95" name="Google Shape;296;g246373b9294_0_58"/>
          <p:cNvPicPr/>
          <p:nvPr/>
        </p:nvPicPr>
        <p:blipFill>
          <a:blip r:embed="rId3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296" name="Google Shape;297;g246373b9294_0_58"/>
          <p:cNvPicPr/>
          <p:nvPr/>
        </p:nvPicPr>
        <p:blipFill>
          <a:blip r:embed="rId4"/>
          <a:stretch/>
        </p:blipFill>
        <p:spPr>
          <a:xfrm>
            <a:off x="3576600" y="2619360"/>
            <a:ext cx="5358960" cy="20808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3_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572</TotalTime>
  <Words>1534</Words>
  <Application>Microsoft Office PowerPoint</Application>
  <PresentationFormat>Widescreen</PresentationFormat>
  <Paragraphs>812</Paragraphs>
  <Slides>16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23" baseType="lpstr">
      <vt:lpstr>Arial</vt:lpstr>
      <vt:lpstr>Calibri</vt:lpstr>
      <vt:lpstr>Federo</vt:lpstr>
      <vt:lpstr>Symbol</vt:lpstr>
      <vt:lpstr>Times New Roman</vt:lpstr>
      <vt:lpstr>Wingdings</vt:lpstr>
      <vt:lpstr>3_Tema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INDICADORES UNIDADES DE PRONTO ATENDIMENTO s/2023</dc:title>
  <dc:subject/>
  <dc:creator>Usuario</dc:creator>
  <dc:description/>
  <cp:lastModifiedBy>Marcelo Mayer Souza ribeiro</cp:lastModifiedBy>
  <cp:revision>57</cp:revision>
  <dcterms:created xsi:type="dcterms:W3CDTF">2022-05-25T20:13:47Z</dcterms:created>
  <dcterms:modified xsi:type="dcterms:W3CDTF">2025-11-04T01:26:12Z</dcterms:modified>
  <dc:language>pt-BR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27</vt:i4>
  </property>
  <property fmtid="{D5CDD505-2E9C-101B-9397-08002B2CF9AE}" pid="3" name="PresentationFormat">
    <vt:lpwstr>Widescreen</vt:lpwstr>
  </property>
  <property fmtid="{D5CDD505-2E9C-101B-9397-08002B2CF9AE}" pid="4" name="Slides">
    <vt:i4>27</vt:i4>
  </property>
</Properties>
</file>